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signals the start of our investigation into how computers solve problems using sequencing, selection, and repetition. Briefly introduce that we’ll be breaking down these ideas step-by-step. Transition smoothly by telling students you’ll first engage with a fun scenario to spark their thinking before diving deeper.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Use this hook to get students curious and thinking practically about programming logic. Pose the challenge of programming a robot to get ready for school, highlighting the need to follow steps in order, make choices if it rains, and repeat brushing teeth twice. Ask students to predict what kinds of instructions the robot would need and why order and decisions matter here. Watch for students who think the robot can do everything at once—remind them that computers follow strict sequences.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set clear listening goals: ask students to spot one key idea about programming logic and how it connects to sequencing, selection, or repetition. After watching, prompt a quick discussion to surface those ideas. Be ready to clarify any confusion, especially if students mix up these concepts or think computers can guess next steps without explicit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introduces the core concepts we’ll focus on today. Emphasise that understanding these three building blocks—sequencing, selection, and repetition—is essential for writing effective programs. Prepare students by saying you’ll now unpack each idea with clear examples, so they can better see how these concepts work in real coding.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sequencing as the exact order instructions must follow to work correctly. Use the light example: you can’t enter a dark room before switching on the light. Highlight that changing the order can cause errors or unexpected results. Ask students if they can think of other daily tasks that require a specific order. Watch for misconceptions where students think computers will correct the order automatically—emphasise that computers follow instructions exactly as given.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Introduce selection as making decisions within a program based on conditions. Use the umbrella example to illustrate: the program chooses one path depending on whether it’s raining. Emphasise that only one option runs at a time, not all options. To check understanding, ask students what happens if the condition isn’t checked properly. Watch for confusion where students think programs can do multiple paths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Define repetition as repeating a set of instructions until a condition is met, like brushing teeth twice. Stress that it’s not about doing something just once or repeating endlessly without stopping. Use a timer or counter analogy if needed. Prompt students to consider why repetition is useful in programming. Be alert to students assuming loops never end or that repetition is the same as selection.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Unpack the traffic light example to connect theory to a real-world system. Guide students to see how sequencing controls the order of light changes, selection checks for pedestrian requests, and repetition cycles the lights continuously. Ask students if they can think of other systems that use these three concepts together. This helps solidify their understanding by linking abstract ideas to everyday technology.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signals it’s time to apply what they’ve learned. Encourage students to see this as an opportunity to demonstrate understanding by designing a flowchart. Remind them that this activity will combine sequencing, selection, and repetition. Prepare them to focus on clarity and correct logic, as these are key skills for programmers.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this flowchart design activity by clearly explaining the task: create a program flowchart that asks for a user’s age, repeats the question if input is invalid, and decides movie-watching eligibility based on age. Emphasise the need to show steps in order, include a decision point, and repetition for input validation. Circulate actively, checking for errors like missing loops or incorrect decision paths. Encourage students to explain their logic as they work. Remind them to keep the flowchart simple but accurate.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cues students to pause and think back over their learning. Use it to prepare them for the reflection questions coming next. Encourage them to consider how sequencing, selection, and repetition connect and why each is important. This helps consolidate their understanding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For the reflection questions, facilitate a group discussion or quick write. Ask why instruction order matters and encourage examples from their flowcharts or daily life. Discuss how selection guides decisions and what might happen if repetition was missing from input checks, highlighting potential errors or infinite loops. Use student answers to assess their grasp and clarify any lingering confusion about how these concepts work together.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Here’s a reminder to watch for common misconceptions: some students may think order isn’t important in sequencing, or that selection means doing all options instead of one, or that loops always run forever. Use these as teaching moments. For differentiation, consider providing flowchart templates to support those who struggle and challenge advanced students to add nested loops or decisions. For extension, invite interested students to explore more complex loops and combined conditions to deepen their programming logic skills.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02</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Sequencing, Selection, Repetition</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Algorithms &amp; Programming Logic: Unit 1 – Thinking Like a Programmer</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02</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Explain sequencing, selection, and repetition in programming.</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Identify examples of each concept in algorithms.</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Create an algorithm using all three concepts.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 sequencing, selection, and repetition help computers solve problems efficiently?</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Program a robot to get ready for school: follow steps in order, decide what to do if it rains, and brush teeth twice.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Sequencing</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Sequencing means arranging instructions in the correct order to work properly</a:t>
            </a:r>
          </a:p>
          <a:p>
            <a:pPr>
              <a:lnSpc>
                <a:spcPct val="125000"/>
              </a:lnSpc>
              <a:spcAft>
                <a:spcPts val="1200"/>
              </a:spcAft>
              <a:defRPr sz="2000">
                <a:solidFill>
                  <a:srgbClr val="0F172A"/>
                </a:solidFill>
                <a:latin typeface="Aptos"/>
              </a:defRPr>
            </a:pPr>
            <a:r>
              <a:t>•  For example, turn on a light before entering a room</a:t>
            </a:r>
          </a:p>
          <a:p>
            <a:pPr>
              <a:lnSpc>
                <a:spcPct val="125000"/>
              </a:lnSpc>
              <a:spcAft>
                <a:spcPts val="1200"/>
              </a:spcAft>
              <a:defRPr sz="2000">
                <a:solidFill>
                  <a:srgbClr val="0F172A"/>
                </a:solidFill>
                <a:latin typeface="Aptos"/>
              </a:defRPr>
            </a:pPr>
            <a:r>
              <a:t>•  Changing the order can cause errors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Selection (Decisions)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Selection lets a program choose one path based on conditions</a:t>
            </a:r>
          </a:p>
          <a:p>
            <a:pPr>
              <a:lnSpc>
                <a:spcPct val="125000"/>
              </a:lnSpc>
              <a:spcAft>
                <a:spcPts val="1200"/>
              </a:spcAft>
              <a:defRPr sz="2000">
                <a:solidFill>
                  <a:srgbClr val="0F172A"/>
                </a:solidFill>
                <a:latin typeface="Aptos"/>
              </a:defRPr>
            </a:pPr>
            <a:r>
              <a:t>•  Example: If it’s raining, take an umbrella; if not, don’t</a:t>
            </a:r>
          </a:p>
          <a:p>
            <a:pPr>
              <a:lnSpc>
                <a:spcPct val="125000"/>
              </a:lnSpc>
              <a:spcAft>
                <a:spcPts val="1200"/>
              </a:spcAft>
              <a:defRPr sz="2000">
                <a:solidFill>
                  <a:srgbClr val="0F172A"/>
                </a:solidFill>
                <a:latin typeface="Aptos"/>
              </a:defRPr>
            </a:pPr>
            <a:r>
              <a:t>•  Only one option runs at a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Repetition (Loops)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Repetition repeats steps until a condition is met</a:t>
            </a:r>
          </a:p>
          <a:p>
            <a:pPr>
              <a:lnSpc>
                <a:spcPct val="125000"/>
              </a:lnSpc>
              <a:spcAft>
                <a:spcPts val="1200"/>
              </a:spcAft>
              <a:defRPr sz="2000">
                <a:solidFill>
                  <a:srgbClr val="0F172A"/>
                </a:solidFill>
                <a:latin typeface="Aptos"/>
              </a:defRPr>
            </a:pPr>
            <a:r>
              <a:t>•  For example, brushing teeth twice</a:t>
            </a:r>
          </a:p>
          <a:p>
            <a:pPr>
              <a:lnSpc>
                <a:spcPct val="125000"/>
              </a:lnSpc>
              <a:spcAft>
                <a:spcPts val="1200"/>
              </a:spcAft>
              <a:defRPr sz="2000">
                <a:solidFill>
                  <a:srgbClr val="0F172A"/>
                </a:solidFill>
                <a:latin typeface="Aptos"/>
              </a:defRPr>
            </a:pPr>
            <a:r>
              <a:t>•  It’s not doing something once or endlessly without stopping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Traffic Light System</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Traffic lights change colors in order (sequencing), check if a pedestrian button is pressed (selection), and cycle colors repeatedly (repetition)</a:t>
            </a:r>
          </a:p>
          <a:p>
            <a:pPr>
              <a:lnSpc>
                <a:spcPct val="125000"/>
              </a:lnSpc>
              <a:spcAft>
                <a:spcPts val="1200"/>
              </a:spcAft>
              <a:defRPr sz="2000">
                <a:solidFill>
                  <a:srgbClr val="0F172A"/>
                </a:solidFill>
                <a:latin typeface="Aptos"/>
              </a:defRPr>
            </a:pPr>
            <a:r>
              <a:t>→  Sequencing controls the light order.</a:t>
            </a:r>
          </a:p>
          <a:p>
            <a:pPr>
              <a:lnSpc>
                <a:spcPct val="125000"/>
              </a:lnSpc>
              <a:spcAft>
                <a:spcPts val="1200"/>
              </a:spcAft>
              <a:defRPr sz="2000">
                <a:solidFill>
                  <a:srgbClr val="0F172A"/>
                </a:solidFill>
                <a:latin typeface="Aptos"/>
              </a:defRPr>
            </a:pPr>
            <a:r>
              <a:t>→  Selection decides when to stop for pedestrians.</a:t>
            </a:r>
          </a:p>
          <a:p>
            <a:pPr>
              <a:lnSpc>
                <a:spcPct val="125000"/>
              </a:lnSpc>
              <a:spcAft>
                <a:spcPts val="1200"/>
              </a:spcAft>
              <a:defRPr sz="2000">
                <a:solidFill>
                  <a:srgbClr val="0F172A"/>
                </a:solidFill>
                <a:latin typeface="Aptos"/>
              </a:defRPr>
            </a:pPr>
            <a:r>
              <a:t>→  Repetition cycles the lights continuously.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Design a Flowchart</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Create a flowchart for a program that asks a user’s age, repeats asking if input is invalid, and decides if the user can watch a movie based on age</a:t>
            </a:r>
          </a:p>
        </p:txBody>
      </p:sp>
      <p:sp>
        <p:nvSpPr>
          <p:cNvPr id="7" name="Rounded Rectangle 6"/>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9" name="TextBox 8"/>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clear flowchart showing correct order, a decision point, and repetition for input checks.</a:t>
            </a:r>
          </a:p>
        </p:txBody>
      </p:sp>
      <p:sp>
        <p:nvSpPr>
          <p:cNvPr id="10" name="TextBox 9"/>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Steps are in the correct order.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Why does instruction order matter?</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does selection guide decisions?</a:t>
            </a:r>
          </a:p>
        </p:txBody>
      </p:sp>
      <p:sp>
        <p:nvSpPr>
          <p:cNvPr id="12" name="Rounded Rectangle 11"/>
          <p:cNvSpPr/>
          <p:nvPr/>
        </p:nvSpPr>
        <p:spPr>
          <a:xfrm>
            <a:off x="457200" y="4169664"/>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4105656"/>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105656"/>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10881360" cy="822960"/>
          </a:xfrm>
          <a:prstGeom prst="rect">
            <a:avLst/>
          </a:prstGeom>
          <a:noFill/>
        </p:spPr>
        <p:txBody>
          <a:bodyPr wrap="square">
            <a:spAutoFit/>
          </a:bodyPr>
          <a:lstStyle/>
          <a:p>
            <a:pPr algn="l">
              <a:defRPr sz="2000" b="0" i="0">
                <a:solidFill>
                  <a:srgbClr val="0F172A"/>
                </a:solidFill>
                <a:latin typeface="Aptos"/>
              </a:defRPr>
            </a:pPr>
            <a:r>
              <a:t>What if repetition was missing in input checks?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Order doesn’t matter in sequencing.</a:t>
            </a:r>
          </a:p>
          <a:p>
            <a:pPr>
              <a:lnSpc>
                <a:spcPct val="125000"/>
              </a:lnSpc>
              <a:spcAft>
                <a:spcPts val="800"/>
              </a:spcAft>
              <a:defRPr sz="1700">
                <a:solidFill>
                  <a:srgbClr val="0F172A"/>
                </a:solidFill>
                <a:latin typeface="Aptos"/>
              </a:defRPr>
            </a:pPr>
            <a:r>
              <a:t>•  Selection means doing all options instead of choosing one.</a:t>
            </a:r>
          </a:p>
          <a:p>
            <a:pPr>
              <a:lnSpc>
                <a:spcPct val="125000"/>
              </a:lnSpc>
              <a:spcAft>
                <a:spcPts val="800"/>
              </a:spcAft>
              <a:defRPr sz="1700">
                <a:solidFill>
                  <a:srgbClr val="0F172A"/>
                </a:solidFill>
                <a:latin typeface="Aptos"/>
              </a:defRPr>
            </a:pPr>
            <a:r>
              <a:t>•  Loops repeat endlessly without stopping.</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Give flowchart templates for support.</a:t>
            </a:r>
          </a:p>
          <a:p>
            <a:pPr>
              <a:lnSpc>
                <a:spcPct val="125000"/>
              </a:lnSpc>
              <a:spcAft>
                <a:spcPts val="800"/>
              </a:spcAft>
              <a:defRPr sz="1700">
                <a:solidFill>
                  <a:srgbClr val="0F172A"/>
                </a:solidFill>
                <a:latin typeface="Aptos"/>
              </a:defRPr>
            </a:pPr>
            <a:r>
              <a:t>•  Ask advanced students to add nested decisions or loops.</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