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We're starting the Explore phase, where students begin to investigate the problem they'll solve today. Emphasise that this is about diving into the real-world context before jumping into solutions. Transition by inviting them to think about everyday problems and how breaking them down step-by-step can help.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curiosity here and get students predicting before you explain anything. Use this hook to get students imagining a familiar scenario—organising a school event. Encourage them to think about the order of tasks needed to make it run smoothly. Ask them to predict what kind of plan or steps they'd need. This sets the stage for understanding why algorithms are important in solving real problems.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playing the video, tell students exactly what key idea or pattern they should listen for. As students watch the video, prompt them to listen for the main idea—probably something about breaking tasks into steps or problem-solving. Afterward, ask how that idea connects to designing algorithms for real problems. This helps them link the video content directly to today's lesson focus.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introduces key concepts they need to understand before applying them. Prepare to clearly explain what algorithms are and why precision matters. Transition by signalling that after grasping these ideas, they'll get to design their own algorithms.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Explain that an algorithm is simply a clear, ordered set of instructions to solve a problem or complete a task. Use the sandwich example to make this relatable—everyone knows how to make a sandwich, but breaking it down into steps shows what an algorithm looks like in everyday life. Highlight that algorithms aren’t only for computers; they’re about clear instructions. Watch for students confusing algorithms with just any list of tasks that aren’t ordered or clear.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Clarify that good algorithms must be precise and handle all possible cases, not just the easy ones. Use the book sorting example to show how comparing and swapping repeatedly ensures the job gets done every time. Emphasise that if an algorithm misses a step or condition, it might fail. Students often think an algorithm can be vague or incomplete and still work, so stress the importance of covering all scenarios.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concept to a real system students might already know. Unpack how real-world apps like Google Maps use algorithms to solve problems efficiently—finding fastest routes by checking traffic and distance. Connect this back to the big idea: algorithms save time and improve experiences. Ask students if they’ve used navigation apps and how they think the app decides the best route. This helps them see algorithms beyond the classroom.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Now we move into applying what we've learned. Emphasise this is their chance to practice designing clear, step-by-step instructions for a real problem. Remind them to think about precision and covering all cases as they work. Prepare them to carefully plan before writing their algorithm.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Launch the task clearly, then circulate to check reasoning rather than just completion. Launch the activity by explaining the task: write an algorithm to find a lost item at home. Stress the need for clear, logical steps that cover searching all areas methodically. Remind them to consider challenges like the item not being where they first look—this encourages planning for decision points. Circulate to check if their steps are ordered and easy to follow, and prompt them to add details if steps seem vague or incomplete.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reflection section helps students consolidate their learning. Encourage them to think about the challenges they faced and how they improved clarity in their algorithms. Use this time to prepare for the reflection questions, prompting honest discussion about what worked and what was tricky.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moment to check what students actually understand, not just what they remember. Guide a class discussion using these questions to deepen understanding. Ask who found it hard to think through the steps and why, then explore strategies they used to make their algorithms clear. This helps students articulate their thinking and learn from each other’s approaches.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this slide as a quick teaching reminder before or during delivery. Highlight common misconceptions like thinking an algorithm can be vague or unordered and still function—make sure to address this if you see it. Use sentence starters or templates to support students who struggle with structure. For advanced learners, challenge them to include decision points or loops to make their algorithms more robust. Suggest extensions like converting their written steps into flowcharts or pseudocode to deepen their understanding and skills.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858000" cy="68580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793992" y="0"/>
            <a:ext cx="128016" cy="6858000"/>
          </a:xfrm>
          <a:prstGeom prst="rect">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560320"/>
            <a:ext cx="4572000" cy="5029200"/>
          </a:xfrm>
          <a:prstGeom prst="rect">
            <a:avLst/>
          </a:prstGeom>
          <a:noFill/>
        </p:spPr>
        <p:txBody>
          <a:bodyPr wrap="square">
            <a:spAutoFit/>
          </a:bodyPr>
          <a:lstStyle/>
          <a:p>
            <a:pPr algn="ctr">
              <a:defRPr sz="21000" b="1" i="0">
                <a:solidFill>
                  <a:srgbClr val="3730A3"/>
                </a:solidFill>
                <a:latin typeface="Aptos Display"/>
              </a:defRPr>
            </a:pPr>
            <a:r>
              <a:t>07</a:t>
            </a:r>
          </a:p>
        </p:txBody>
      </p:sp>
      <p:sp>
        <p:nvSpPr>
          <p:cNvPr id="5" name="Rectangle 4"/>
          <p:cNvSpPr/>
          <p:nvPr/>
        </p:nvSpPr>
        <p:spPr>
          <a:xfrm>
            <a:off x="502920" y="1234440"/>
            <a:ext cx="2377440" cy="73152"/>
          </a:xfrm>
          <a:prstGeom prst="rect">
            <a:avLst/>
          </a:prstGeom>
          <a:solidFill>
            <a:srgbClr val="FDE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81328"/>
            <a:ext cx="6080760" cy="3108960"/>
          </a:xfrm>
          <a:prstGeom prst="rect">
            <a:avLst/>
          </a:prstGeom>
          <a:noFill/>
        </p:spPr>
        <p:txBody>
          <a:bodyPr wrap="square">
            <a:spAutoFit/>
          </a:bodyPr>
          <a:lstStyle/>
          <a:p>
            <a:pPr algn="l">
              <a:defRPr sz="4200" b="1" i="0">
                <a:solidFill>
                  <a:srgbClr val="FFFFFF"/>
                </a:solidFill>
                <a:latin typeface="Aptos Display"/>
              </a:defRPr>
            </a:pPr>
            <a:r>
              <a:t>Designing an Algorithm</a:t>
            </a:r>
          </a:p>
        </p:txBody>
      </p:sp>
      <p:sp>
        <p:nvSpPr>
          <p:cNvPr id="7" name="TextBox 6"/>
          <p:cNvSpPr txBox="1"/>
          <p:nvPr/>
        </p:nvSpPr>
        <p:spPr>
          <a:xfrm>
            <a:off x="502920" y="4572000"/>
            <a:ext cx="5943600" cy="502920"/>
          </a:xfrm>
          <a:prstGeom prst="rect">
            <a:avLst/>
          </a:prstGeom>
          <a:noFill/>
        </p:spPr>
        <p:txBody>
          <a:bodyPr wrap="square">
            <a:spAutoFit/>
          </a:bodyPr>
          <a:lstStyle/>
          <a:p>
            <a:pPr algn="l">
              <a:defRPr sz="1400" b="0" i="0">
                <a:solidFill>
                  <a:srgbClr val="C7D2FE"/>
                </a:solidFill>
                <a:latin typeface="Aptos"/>
              </a:defRPr>
            </a:pPr>
            <a:r>
              <a:t>Algorithms &amp; Programming Logic: Unit 1 – Thinking Like a Programmer</a:t>
            </a:r>
          </a:p>
        </p:txBody>
      </p:sp>
      <p:sp>
        <p:nvSpPr>
          <p:cNvPr id="8" name="Rounded Rectangle 7"/>
          <p:cNvSpPr/>
          <p:nvPr/>
        </p:nvSpPr>
        <p:spPr>
          <a:xfrm>
            <a:off x="502920" y="6053328"/>
            <a:ext cx="1755648"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4338CA"/>
                </a:solidFill>
                <a:latin typeface="Aptos"/>
              </a:defRPr>
            </a:pPr>
            <a:r>
              <a:t>Lesson 07</a:t>
            </a:r>
          </a:p>
        </p:txBody>
      </p:sp>
      <p:sp>
        <p:nvSpPr>
          <p:cNvPr id="9" name="Rectangle 8"/>
          <p:cNvSpPr/>
          <p:nvPr/>
        </p:nvSpPr>
        <p:spPr>
          <a:xfrm>
            <a:off x="6858000" y="0"/>
            <a:ext cx="5333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29600" y="0"/>
            <a:ext cx="3200400" cy="320040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24160" y="-365760"/>
            <a:ext cx="2103120" cy="210312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772400" y="3840480"/>
            <a:ext cx="2560320" cy="256032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89920" y="4754880"/>
            <a:ext cx="1554480" cy="155448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114032" y="3246120"/>
            <a:ext cx="4828032" cy="457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64748B"/>
                </a:solidFill>
                <a:latin typeface="Aptos"/>
              </a:defRPr>
            </a:pPr>
            <a:r>
              <a:t>Lower Secondary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144000" cy="804672"/>
          </a:xfrm>
          <a:prstGeom prst="rect">
            <a:avLst/>
          </a:prstGeom>
          <a:noFill/>
        </p:spPr>
        <p:txBody>
          <a:bodyPr wrap="square">
            <a:spAutoFit/>
          </a:bodyPr>
          <a:lstStyle/>
          <a:p>
            <a:pPr algn="l">
              <a:defRPr sz="3000" b="1" i="0">
                <a:solidFill>
                  <a:srgbClr val="FFFFFF"/>
                </a:solidFill>
                <a:latin typeface="Aptos Display"/>
              </a:defRPr>
            </a:pPr>
            <a:r>
              <a:t>Learning Objectives</a:t>
            </a:r>
          </a:p>
        </p:txBody>
      </p:sp>
      <p:sp>
        <p:nvSpPr>
          <p:cNvPr id="4" name="TextBox 3"/>
          <p:cNvSpPr txBox="1"/>
          <p:nvPr/>
        </p:nvSpPr>
        <p:spPr>
          <a:xfrm>
            <a:off x="502920" y="896112"/>
            <a:ext cx="9144000" cy="438912"/>
          </a:xfrm>
          <a:prstGeom prst="rect">
            <a:avLst/>
          </a:prstGeom>
          <a:noFill/>
        </p:spPr>
        <p:txBody>
          <a:bodyPr wrap="square">
            <a:spAutoFit/>
          </a:bodyPr>
          <a:lstStyle/>
          <a:p>
            <a:pPr algn="l">
              <a:defRPr sz="1300" b="0" i="1">
                <a:solidFill>
                  <a:srgbClr val="C7D2FE"/>
                </a:solidFill>
                <a:latin typeface="Aptos"/>
              </a:defRPr>
            </a:pPr>
            <a:r>
              <a:t>By the end of this lesson, you will be able to:</a:t>
            </a:r>
          </a:p>
        </p:txBody>
      </p:sp>
      <p:sp>
        <p:nvSpPr>
          <p:cNvPr id="5" name="Rounded Rectangle 4"/>
          <p:cNvSpPr/>
          <p:nvPr/>
        </p:nvSpPr>
        <p:spPr>
          <a:xfrm>
            <a:off x="457200" y="162763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157276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72768"/>
            <a:ext cx="109728" cy="9144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55648"/>
            <a:ext cx="475488" cy="530352"/>
          </a:xfrm>
          <a:prstGeom prst="rect">
            <a:avLst/>
          </a:prstGeom>
          <a:noFill/>
        </p:spPr>
        <p:txBody>
          <a:bodyPr wrap="square">
            <a:spAutoFit/>
          </a:bodyPr>
          <a:lstStyle/>
          <a:p>
            <a:pPr algn="l">
              <a:defRPr sz="2600" b="1" i="0">
                <a:solidFill>
                  <a:srgbClr val="4338CA"/>
                </a:solidFill>
                <a:latin typeface="Aptos Display"/>
              </a:defRPr>
            </a:pPr>
            <a:r>
              <a:t>1</a:t>
            </a:r>
          </a:p>
        </p:txBody>
      </p:sp>
      <p:sp>
        <p:nvSpPr>
          <p:cNvPr id="9" name="TextBox 8"/>
          <p:cNvSpPr txBox="1"/>
          <p:nvPr/>
        </p:nvSpPr>
        <p:spPr>
          <a:xfrm>
            <a:off x="1298448" y="1709928"/>
            <a:ext cx="10149840" cy="713232"/>
          </a:xfrm>
          <a:prstGeom prst="rect">
            <a:avLst/>
          </a:prstGeom>
          <a:noFill/>
        </p:spPr>
        <p:txBody>
          <a:bodyPr wrap="square">
            <a:spAutoFit/>
          </a:bodyPr>
          <a:lstStyle/>
          <a:p>
            <a:pPr algn="l">
              <a:defRPr sz="2000" b="0" i="0">
                <a:solidFill>
                  <a:srgbClr val="0F172A"/>
                </a:solidFill>
                <a:latin typeface="Aptos"/>
              </a:defRPr>
            </a:pPr>
            <a:r>
              <a:t>Explain the steps to solve a problem with an algorithm.</a:t>
            </a:r>
          </a:p>
        </p:txBody>
      </p:sp>
      <p:sp>
        <p:nvSpPr>
          <p:cNvPr id="10" name="Rounded Rectangle 9"/>
          <p:cNvSpPr/>
          <p:nvPr/>
        </p:nvSpPr>
        <p:spPr>
          <a:xfrm>
            <a:off x="457200" y="263347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11480" y="257860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2578608"/>
            <a:ext cx="109728" cy="914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761488"/>
            <a:ext cx="475488" cy="530352"/>
          </a:xfrm>
          <a:prstGeom prst="rect">
            <a:avLst/>
          </a:prstGeom>
          <a:noFill/>
        </p:spPr>
        <p:txBody>
          <a:bodyPr wrap="square">
            <a:spAutoFit/>
          </a:bodyPr>
          <a:lstStyle/>
          <a:p>
            <a:pPr algn="l">
              <a:defRPr sz="2600" b="1" i="0">
                <a:solidFill>
                  <a:srgbClr val="0D9488"/>
                </a:solidFill>
                <a:latin typeface="Aptos Display"/>
              </a:defRPr>
            </a:pPr>
            <a:r>
              <a:t>2</a:t>
            </a:r>
          </a:p>
        </p:txBody>
      </p:sp>
      <p:sp>
        <p:nvSpPr>
          <p:cNvPr id="14" name="TextBox 13"/>
          <p:cNvSpPr txBox="1"/>
          <p:nvPr/>
        </p:nvSpPr>
        <p:spPr>
          <a:xfrm>
            <a:off x="1298448" y="2715768"/>
            <a:ext cx="10149840" cy="713232"/>
          </a:xfrm>
          <a:prstGeom prst="rect">
            <a:avLst/>
          </a:prstGeom>
          <a:noFill/>
        </p:spPr>
        <p:txBody>
          <a:bodyPr wrap="square">
            <a:spAutoFit/>
          </a:bodyPr>
          <a:lstStyle/>
          <a:p>
            <a:pPr algn="l">
              <a:defRPr sz="2000" b="0" i="0">
                <a:solidFill>
                  <a:srgbClr val="0F172A"/>
                </a:solidFill>
                <a:latin typeface="Aptos"/>
              </a:defRPr>
            </a:pPr>
            <a:r>
              <a:t>Spot and fix common algorithm mistakes.</a:t>
            </a:r>
          </a:p>
        </p:txBody>
      </p:sp>
      <p:sp>
        <p:nvSpPr>
          <p:cNvPr id="15" name="Rounded Rectangle 14"/>
          <p:cNvSpPr/>
          <p:nvPr/>
        </p:nvSpPr>
        <p:spPr>
          <a:xfrm>
            <a:off x="457200" y="363931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11480" y="358444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3584448"/>
            <a:ext cx="109728" cy="9144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767328"/>
            <a:ext cx="475488" cy="530352"/>
          </a:xfrm>
          <a:prstGeom prst="rect">
            <a:avLst/>
          </a:prstGeom>
          <a:noFill/>
        </p:spPr>
        <p:txBody>
          <a:bodyPr wrap="square">
            <a:spAutoFit/>
          </a:bodyPr>
          <a:lstStyle/>
          <a:p>
            <a:pPr algn="l">
              <a:defRPr sz="2600" b="1" i="0">
                <a:solidFill>
                  <a:srgbClr val="B45309"/>
                </a:solidFill>
                <a:latin typeface="Aptos Display"/>
              </a:defRPr>
            </a:pPr>
            <a:r>
              <a:t>3</a:t>
            </a:r>
          </a:p>
        </p:txBody>
      </p:sp>
      <p:sp>
        <p:nvSpPr>
          <p:cNvPr id="19" name="TextBox 18"/>
          <p:cNvSpPr txBox="1"/>
          <p:nvPr/>
        </p:nvSpPr>
        <p:spPr>
          <a:xfrm>
            <a:off x="1298448" y="3721608"/>
            <a:ext cx="10149840" cy="713232"/>
          </a:xfrm>
          <a:prstGeom prst="rect">
            <a:avLst/>
          </a:prstGeom>
          <a:noFill/>
        </p:spPr>
        <p:txBody>
          <a:bodyPr wrap="square">
            <a:spAutoFit/>
          </a:bodyPr>
          <a:lstStyle/>
          <a:p>
            <a:pPr algn="l">
              <a:defRPr sz="2000" b="0" i="0">
                <a:solidFill>
                  <a:srgbClr val="0F172A"/>
                </a:solidFill>
                <a:latin typeface="Aptos"/>
              </a:defRPr>
            </a:pPr>
            <a:r>
              <a:t>Create a clear, logical algorithm for a real problem.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0" y="-1828800"/>
            <a:ext cx="5943600" cy="5486400"/>
          </a:xfrm>
          <a:prstGeom prst="rect">
            <a:avLst/>
          </a:prstGeom>
          <a:noFill/>
        </p:spPr>
        <p:txBody>
          <a:bodyPr wrap="square">
            <a:spAutoFit/>
          </a:bodyPr>
          <a:lstStyle/>
          <a:p>
            <a:pPr algn="ctr">
              <a:defRPr sz="38000" b="1" i="0">
                <a:solidFill>
                  <a:srgbClr val="3730A3"/>
                </a:solidFill>
                <a:latin typeface="Aptos Display"/>
              </a:defRPr>
            </a:pPr>
            <a:r>
              <a:t>“</a:t>
            </a:r>
          </a:p>
        </p:txBody>
      </p:sp>
      <p:sp>
        <p:nvSpPr>
          <p:cNvPr id="3" name="Rounded Rectangle 2"/>
          <p:cNvSpPr/>
          <p:nvPr/>
        </p:nvSpPr>
        <p:spPr>
          <a:xfrm>
            <a:off x="502920" y="384048"/>
            <a:ext cx="2286000"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Essential Question</a:t>
            </a:r>
          </a:p>
        </p:txBody>
      </p:sp>
      <p:sp>
        <p:nvSpPr>
          <p:cNvPr id="4" name="Rectangle 3"/>
          <p:cNvSpPr/>
          <p:nvPr/>
        </p:nvSpPr>
        <p:spPr>
          <a:xfrm>
            <a:off x="502920" y="987552"/>
            <a:ext cx="228600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51560"/>
            <a:ext cx="1280160" cy="1280160"/>
          </a:xfrm>
          <a:prstGeom prst="rect">
            <a:avLst/>
          </a:prstGeom>
          <a:noFill/>
        </p:spPr>
        <p:txBody>
          <a:bodyPr wrap="square">
            <a:spAutoFit/>
          </a:bodyPr>
          <a:lstStyle/>
          <a:p>
            <a:pPr algn="l">
              <a:defRPr sz="11000" b="1" i="0">
                <a:solidFill>
                  <a:srgbClr val="C7D2FE"/>
                </a:solidFill>
                <a:latin typeface="Aptos Display"/>
              </a:defRPr>
            </a:pPr>
            <a:r>
              <a:t>“</a:t>
            </a:r>
          </a:p>
        </p:txBody>
      </p:sp>
      <p:sp>
        <p:nvSpPr>
          <p:cNvPr id="6" name="TextBox 5"/>
          <p:cNvSpPr txBox="1"/>
          <p:nvPr/>
        </p:nvSpPr>
        <p:spPr>
          <a:xfrm>
            <a:off x="594360" y="2103120"/>
            <a:ext cx="9875520" cy="3840480"/>
          </a:xfrm>
          <a:prstGeom prst="rect">
            <a:avLst/>
          </a:prstGeom>
          <a:noFill/>
        </p:spPr>
        <p:txBody>
          <a:bodyPr wrap="square">
            <a:spAutoFit/>
          </a:bodyPr>
          <a:lstStyle/>
          <a:p>
            <a:pPr algn="l">
              <a:defRPr sz="3400" b="0" i="0">
                <a:solidFill>
                  <a:srgbClr val="FFFFFF"/>
                </a:solidFill>
                <a:latin typeface="Aptos Display"/>
              </a:defRPr>
            </a:pPr>
            <a:r>
              <a:t>How can we create an algorithm that solves a real problem efficiently and accurately?</a:t>
            </a:r>
          </a:p>
        </p:txBody>
      </p:sp>
      <p:sp>
        <p:nvSpPr>
          <p:cNvPr id="7" name="TextBox 6"/>
          <p:cNvSpPr txBox="1"/>
          <p:nvPr/>
        </p:nvSpPr>
        <p:spPr>
          <a:xfrm>
            <a:off x="9144000" y="4572000"/>
            <a:ext cx="2743200" cy="1828800"/>
          </a:xfrm>
          <a:prstGeom prst="rect">
            <a:avLst/>
          </a:prstGeom>
          <a:noFill/>
        </p:spPr>
        <p:txBody>
          <a:bodyPr wrap="square">
            <a:spAutoFit/>
          </a:bodyPr>
          <a:lstStyle/>
          <a:p>
            <a:pPr algn="l">
              <a:defRPr sz="11000" b="1" i="0">
                <a:solidFill>
                  <a:srgbClr val="3730A3"/>
                </a:solidFill>
                <a:latin typeface="Aptos Display"/>
              </a:defRPr>
            </a:pP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EXPLORE</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Let's investigate the problem.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ounded Rectangle 1"/>
          <p:cNvSpPr/>
          <p:nvPr/>
        </p:nvSpPr>
        <p:spPr>
          <a:xfrm>
            <a:off x="502920" y="292608"/>
            <a:ext cx="1481328"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ptos"/>
              </a:defRPr>
            </a:pPr>
            <a:r>
              <a:t>💡 Hook</a:t>
            </a:r>
          </a:p>
        </p:txBody>
      </p:sp>
      <p:sp>
        <p:nvSpPr>
          <p:cNvPr id="3" name="TextBox 2"/>
          <p:cNvSpPr txBox="1"/>
          <p:nvPr/>
        </p:nvSpPr>
        <p:spPr>
          <a:xfrm>
            <a:off x="9144000" y="0"/>
            <a:ext cx="3200400" cy="3840480"/>
          </a:xfrm>
          <a:prstGeom prst="rect">
            <a:avLst/>
          </a:prstGeom>
          <a:noFill/>
        </p:spPr>
        <p:txBody>
          <a:bodyPr wrap="square">
            <a:spAutoFit/>
          </a:bodyPr>
          <a:lstStyle/>
          <a:p>
            <a:pPr algn="l">
              <a:defRPr sz="26000" b="1" i="0">
                <a:solidFill>
                  <a:srgbClr val="C7D2FE"/>
                </a:solidFill>
                <a:latin typeface="Aptos Display"/>
              </a:defRPr>
            </a:pPr>
            <a:r>
              <a:t>“</a:t>
            </a:r>
          </a:p>
        </p:txBody>
      </p:sp>
      <p:sp>
        <p:nvSpPr>
          <p:cNvPr id="4" name="Rounded Rectangle 3"/>
          <p:cNvSpPr/>
          <p:nvPr/>
        </p:nvSpPr>
        <p:spPr>
          <a:xfrm>
            <a:off x="502920" y="932688"/>
            <a:ext cx="11201400" cy="5349240"/>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32688"/>
            <a:ext cx="109728" cy="53492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463040"/>
            <a:ext cx="10378440" cy="4572000"/>
          </a:xfrm>
          <a:prstGeom prst="rect">
            <a:avLst/>
          </a:prstGeom>
          <a:noFill/>
        </p:spPr>
        <p:txBody>
          <a:bodyPr wrap="square">
            <a:spAutoFit/>
          </a:bodyPr>
          <a:lstStyle/>
          <a:p>
            <a:pPr algn="l">
              <a:defRPr sz="2200" b="0" i="0">
                <a:solidFill>
                  <a:srgbClr val="0F172A"/>
                </a:solidFill>
                <a:latin typeface="Aptos"/>
              </a:defRPr>
            </a:pPr>
            <a:r>
              <a:t>Imagine organizing a school event. What step-by-step plan would ensure it runs smoothly?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Watch &amp; Think</a:t>
            </a:r>
          </a:p>
        </p:txBody>
      </p:sp>
      <p:sp>
        <p:nvSpPr>
          <p:cNvPr id="4" name="Rounded Rectangle 3"/>
          <p:cNvSpPr/>
          <p:nvPr/>
        </p:nvSpPr>
        <p:spPr>
          <a:xfrm>
            <a:off x="384048" y="1417320"/>
            <a:ext cx="6931152" cy="44805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84048" y="1417320"/>
            <a:ext cx="6931152" cy="73152"/>
          </a:xfrm>
          <a:prstGeom prst="rect">
            <a:avLst/>
          </a:prstGeom>
          <a:solidFill>
            <a:srgbClr val="1E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4048" y="5486400"/>
            <a:ext cx="6931152" cy="4114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577840"/>
            <a:ext cx="3812133"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461004" y="3063240"/>
            <a:ext cx="777240" cy="77724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000">
                <a:solidFill>
                  <a:srgbClr val="FFFFFF"/>
                </a:solidFill>
                <a:latin typeface="Aptos"/>
              </a:defRPr>
            </a:pPr>
            <a:r>
              <a:t>▶</a:t>
            </a:r>
          </a:p>
        </p:txBody>
      </p:sp>
      <p:sp>
        <p:nvSpPr>
          <p:cNvPr id="9" name="TextBox 8"/>
          <p:cNvSpPr txBox="1"/>
          <p:nvPr/>
        </p:nvSpPr>
        <p:spPr>
          <a:xfrm>
            <a:off x="384048" y="6025896"/>
            <a:ext cx="6931152" cy="402336"/>
          </a:xfrm>
          <a:prstGeom prst="rect">
            <a:avLst/>
          </a:prstGeom>
          <a:noFill/>
        </p:spPr>
        <p:txBody>
          <a:bodyPr wrap="square">
            <a:spAutoFit/>
          </a:bodyPr>
          <a:lstStyle/>
          <a:p>
            <a:pPr algn="l">
              <a:defRPr sz="1100" b="0" i="1">
                <a:solidFill>
                  <a:srgbClr val="64748B"/>
                </a:solidFill>
                <a:latin typeface="Aptos"/>
              </a:defRPr>
            </a:pPr>
            <a:r>
              <a:t>Video URL will be provided by your teacher</a:t>
            </a:r>
          </a:p>
        </p:txBody>
      </p:sp>
      <p:sp>
        <p:nvSpPr>
          <p:cNvPr id="10" name="TextBox 9"/>
          <p:cNvSpPr txBox="1"/>
          <p:nvPr/>
        </p:nvSpPr>
        <p:spPr>
          <a:xfrm>
            <a:off x="7571231" y="1572768"/>
            <a:ext cx="4343400" cy="457200"/>
          </a:xfrm>
          <a:prstGeom prst="rect">
            <a:avLst/>
          </a:prstGeom>
          <a:noFill/>
        </p:spPr>
        <p:txBody>
          <a:bodyPr wrap="square">
            <a:spAutoFit/>
          </a:bodyPr>
          <a:lstStyle/>
          <a:p>
            <a:pPr algn="l">
              <a:defRPr sz="1400" b="1" i="0">
                <a:solidFill>
                  <a:srgbClr val="64748B"/>
                </a:solidFill>
                <a:latin typeface="Aptos"/>
              </a:defRPr>
            </a:pPr>
            <a:r>
              <a:t>While you watch:</a:t>
            </a:r>
          </a:p>
        </p:txBody>
      </p:sp>
      <p:sp>
        <p:nvSpPr>
          <p:cNvPr id="11" name="Rounded Rectangle 10"/>
          <p:cNvSpPr/>
          <p:nvPr/>
        </p:nvSpPr>
        <p:spPr>
          <a:xfrm>
            <a:off x="7635240" y="2240280"/>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571231" y="2176272"/>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71231" y="2176272"/>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27264" y="2359152"/>
            <a:ext cx="3913632" cy="822960"/>
          </a:xfrm>
          <a:prstGeom prst="rect">
            <a:avLst/>
          </a:prstGeom>
          <a:noFill/>
        </p:spPr>
        <p:txBody>
          <a:bodyPr wrap="square">
            <a:spAutoFit/>
          </a:bodyPr>
          <a:lstStyle/>
          <a:p>
            <a:pPr algn="l">
              <a:defRPr sz="1600" b="0" i="0">
                <a:solidFill>
                  <a:srgbClr val="0F172A"/>
                </a:solidFill>
                <a:latin typeface="Aptos"/>
              </a:defRPr>
            </a:pPr>
            <a:r>
              <a:t>What is one key idea?</a:t>
            </a:r>
          </a:p>
        </p:txBody>
      </p:sp>
      <p:sp>
        <p:nvSpPr>
          <p:cNvPr id="15" name="Rounded Rectangle 14"/>
          <p:cNvSpPr/>
          <p:nvPr/>
        </p:nvSpPr>
        <p:spPr>
          <a:xfrm>
            <a:off x="7635240" y="3630168"/>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571231" y="3566160"/>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71231" y="3566160"/>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27264" y="3749040"/>
            <a:ext cx="3913632" cy="822960"/>
          </a:xfrm>
          <a:prstGeom prst="rect">
            <a:avLst/>
          </a:prstGeom>
          <a:noFill/>
        </p:spPr>
        <p:txBody>
          <a:bodyPr wrap="square">
            <a:spAutoFit/>
          </a:bodyPr>
          <a:lstStyle/>
          <a:p>
            <a:pPr algn="l">
              <a:defRPr sz="1600" b="0" i="0">
                <a:solidFill>
                  <a:srgbClr val="0F172A"/>
                </a:solidFill>
                <a:latin typeface="Aptos"/>
              </a:defRPr>
            </a:pPr>
            <a:r>
              <a:t>How does it connect to today's topic?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LEARN</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Key ideas and concepts.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What is an Algorithm?</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An algorithm is a clear, ordered list of steps to solve a problem or complete a task</a:t>
            </a:r>
          </a:p>
          <a:p>
            <a:pPr>
              <a:lnSpc>
                <a:spcPct val="125000"/>
              </a:lnSpc>
              <a:spcAft>
                <a:spcPts val="1200"/>
              </a:spcAft>
              <a:defRPr sz="2000">
                <a:solidFill>
                  <a:srgbClr val="0F172A"/>
                </a:solidFill>
                <a:latin typeface="Aptos"/>
              </a:defRPr>
            </a:pPr>
            <a:r>
              <a:t>•  For example, making a sandwich: get bread, add filling, close sandwich, cut it</a:t>
            </a:r>
          </a:p>
          <a:p>
            <a:pPr>
              <a:lnSpc>
                <a:spcPct val="125000"/>
              </a:lnSpc>
              <a:spcAft>
                <a:spcPts val="1200"/>
              </a:spcAft>
              <a:defRPr sz="2000">
                <a:solidFill>
                  <a:srgbClr val="0F172A"/>
                </a:solidFill>
                <a:latin typeface="Aptos"/>
              </a:defRPr>
            </a:pPr>
            <a:r>
              <a:t>•  Algorithms are not just for computers and don’t need coding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Designing Real Algorithms</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Good algorithms are precise and cover all cases</a:t>
            </a:r>
          </a:p>
          <a:p>
            <a:pPr>
              <a:lnSpc>
                <a:spcPct val="125000"/>
              </a:lnSpc>
              <a:spcAft>
                <a:spcPts val="1200"/>
              </a:spcAft>
              <a:defRPr sz="2000">
                <a:solidFill>
                  <a:srgbClr val="0F172A"/>
                </a:solidFill>
                <a:latin typeface="Aptos"/>
              </a:defRPr>
            </a:pPr>
            <a:r>
              <a:t>•  For example, sorting books by height: compare two books, swap if taller, repeat until sorted</a:t>
            </a:r>
          </a:p>
          <a:p>
            <a:pPr>
              <a:lnSpc>
                <a:spcPct val="125000"/>
              </a:lnSpc>
              <a:spcAft>
                <a:spcPts val="1200"/>
              </a:spcAft>
              <a:defRPr sz="2000">
                <a:solidFill>
                  <a:srgbClr val="0F172A"/>
                </a:solidFill>
                <a:latin typeface="Aptos"/>
              </a:defRPr>
            </a:pPr>
            <a:r>
              <a:t>•  Algorithms must work every time, not just sometimes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DFA"/>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  Navigation Apps</a:t>
            </a:r>
          </a:p>
        </p:txBody>
      </p:sp>
      <p:sp>
        <p:nvSpPr>
          <p:cNvPr id="4" name="Rounded Rectangle 3"/>
          <p:cNvSpPr/>
          <p:nvPr/>
        </p:nvSpPr>
        <p:spPr>
          <a:xfrm>
            <a:off x="347472" y="1426464"/>
            <a:ext cx="11640312" cy="5175504"/>
          </a:xfrm>
          <a:prstGeom prst="roundRect">
            <a:avLst/>
          </a:prstGeom>
          <a:solidFill>
            <a:srgbClr val="99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Apps like Google Maps use algorithms to find the fastest route by checking traffic and distance.</a:t>
            </a:r>
          </a:p>
          <a:p>
            <a:pPr>
              <a:lnSpc>
                <a:spcPct val="125000"/>
              </a:lnSpc>
              <a:spcAft>
                <a:spcPts val="1200"/>
              </a:spcAft>
              <a:defRPr sz="2000">
                <a:solidFill>
                  <a:srgbClr val="0F172A"/>
                </a:solidFill>
                <a:latin typeface="Aptos"/>
              </a:defRPr>
            </a:pPr>
            <a:r>
              <a:t>→  Efficient algorithms save time.</a:t>
            </a:r>
          </a:p>
          <a:p>
            <a:pPr>
              <a:lnSpc>
                <a:spcPct val="125000"/>
              </a:lnSpc>
              <a:spcAft>
                <a:spcPts val="1200"/>
              </a:spcAft>
              <a:defRPr sz="2000">
                <a:solidFill>
                  <a:srgbClr val="0F172A"/>
                </a:solidFill>
                <a:latin typeface="Aptos"/>
              </a:defRPr>
            </a:pPr>
            <a:r>
              <a:t>→  They help avoid traffic jams.</a:t>
            </a:r>
          </a:p>
          <a:p>
            <a:pPr>
              <a:lnSpc>
                <a:spcPct val="125000"/>
              </a:lnSpc>
              <a:spcAft>
                <a:spcPts val="1200"/>
              </a:spcAft>
              <a:defRPr sz="2000">
                <a:solidFill>
                  <a:srgbClr val="0F172A"/>
                </a:solidFill>
                <a:latin typeface="Aptos"/>
              </a:defRPr>
            </a:pPr>
            <a:r>
              <a:t>→  Good design improves user experience.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APPLY</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Put your learning into action.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BEB"/>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Lost Item Search</a:t>
            </a:r>
          </a:p>
        </p:txBody>
      </p:sp>
      <p:sp>
        <p:nvSpPr>
          <p:cNvPr id="4" name="Rounded Rectangle 3"/>
          <p:cNvSpPr/>
          <p:nvPr/>
        </p:nvSpPr>
        <p:spPr>
          <a:xfrm>
            <a:off x="10058400" y="310896"/>
            <a:ext cx="182880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B45309"/>
                </a:solidFill>
                <a:latin typeface="Aptos"/>
              </a:defRPr>
            </a:pPr>
            <a:r>
              <a:t>⏱  15 minutes</a:t>
            </a:r>
          </a:p>
        </p:txBody>
      </p:sp>
      <p:sp>
        <p:nvSpPr>
          <p:cNvPr id="5" name="Oval 4"/>
          <p:cNvSpPr/>
          <p:nvPr/>
        </p:nvSpPr>
        <p:spPr>
          <a:xfrm>
            <a:off x="411480" y="1463040"/>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1</a:t>
            </a:r>
          </a:p>
        </p:txBody>
      </p:sp>
      <p:sp>
        <p:nvSpPr>
          <p:cNvPr id="6" name="TextBox 5"/>
          <p:cNvSpPr txBox="1"/>
          <p:nvPr/>
        </p:nvSpPr>
        <p:spPr>
          <a:xfrm>
            <a:off x="1024128" y="1499616"/>
            <a:ext cx="10881360" cy="530352"/>
          </a:xfrm>
          <a:prstGeom prst="rect">
            <a:avLst/>
          </a:prstGeom>
          <a:noFill/>
        </p:spPr>
        <p:txBody>
          <a:bodyPr wrap="square">
            <a:spAutoFit/>
          </a:bodyPr>
          <a:lstStyle/>
          <a:p>
            <a:pPr algn="l">
              <a:defRPr sz="1800" b="0" i="0">
                <a:solidFill>
                  <a:srgbClr val="0F172A"/>
                </a:solidFill>
                <a:latin typeface="Aptos"/>
              </a:defRPr>
            </a:pPr>
            <a:r>
              <a:t>Write an algorithm to find a lost item at home. List clear, ordered steps to search each area methodically.</a:t>
            </a:r>
          </a:p>
        </p:txBody>
      </p:sp>
      <p:sp>
        <p:nvSpPr>
          <p:cNvPr id="7" name="Rounded Rectangle 6"/>
          <p:cNvSpPr/>
          <p:nvPr/>
        </p:nvSpPr>
        <p:spPr>
          <a:xfrm>
            <a:off x="274320" y="4892040"/>
            <a:ext cx="11640312" cy="1719072"/>
          </a:xfrm>
          <a:prstGeom prst="roundRect">
            <a:avLst/>
          </a:prstGeom>
          <a:solidFill>
            <a:srgbClr val="FDE68A"/>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7200" y="4956048"/>
            <a:ext cx="1481328" cy="41148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ptos"/>
              </a:defRPr>
            </a:pPr>
            <a:r>
              <a:t>📋 Output</a:t>
            </a:r>
          </a:p>
        </p:txBody>
      </p:sp>
      <p:sp>
        <p:nvSpPr>
          <p:cNvPr id="9" name="TextBox 8"/>
          <p:cNvSpPr txBox="1"/>
          <p:nvPr/>
        </p:nvSpPr>
        <p:spPr>
          <a:xfrm>
            <a:off x="2103120" y="5029200"/>
            <a:ext cx="9692640" cy="594360"/>
          </a:xfrm>
          <a:prstGeom prst="rect">
            <a:avLst/>
          </a:prstGeom>
          <a:noFill/>
        </p:spPr>
        <p:txBody>
          <a:bodyPr wrap="square">
            <a:spAutoFit/>
          </a:bodyPr>
          <a:lstStyle/>
          <a:p>
            <a:pPr algn="l">
              <a:defRPr sz="1400" b="0" i="0">
                <a:solidFill>
                  <a:srgbClr val="0F172A"/>
                </a:solidFill>
                <a:latin typeface="Aptos"/>
              </a:defRPr>
            </a:pPr>
            <a:r>
              <a:t>A written, step-by-step algorithm showing the search process.</a:t>
            </a:r>
          </a:p>
        </p:txBody>
      </p:sp>
      <p:sp>
        <p:nvSpPr>
          <p:cNvPr id="10" name="TextBox 9"/>
          <p:cNvSpPr txBox="1"/>
          <p:nvPr/>
        </p:nvSpPr>
        <p:spPr>
          <a:xfrm>
            <a:off x="457200" y="5623560"/>
            <a:ext cx="11338560" cy="502920"/>
          </a:xfrm>
          <a:prstGeom prst="rect">
            <a:avLst/>
          </a:prstGeom>
          <a:noFill/>
        </p:spPr>
        <p:txBody>
          <a:bodyPr wrap="square">
            <a:spAutoFit/>
          </a:bodyPr>
          <a:lstStyle/>
          <a:p>
            <a:pPr algn="l">
              <a:defRPr sz="1300" b="1" i="0">
                <a:solidFill>
                  <a:srgbClr val="B45309"/>
                </a:solidFill>
                <a:latin typeface="Aptos"/>
              </a:defRPr>
            </a:pPr>
            <a:r>
              <a:t>✓  Steps are in logical order covering all search areas.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REFLECT</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Review and consolidate your understanding.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89888"/>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1247120" cy="987552"/>
          </a:xfrm>
          <a:prstGeom prst="rect">
            <a:avLst/>
          </a:prstGeom>
          <a:noFill/>
        </p:spPr>
        <p:txBody>
          <a:bodyPr wrap="square">
            <a:spAutoFit/>
          </a:bodyPr>
          <a:lstStyle/>
          <a:p>
            <a:pPr algn="l">
              <a:defRPr sz="2800" b="1" i="0">
                <a:solidFill>
                  <a:srgbClr val="4338CA"/>
                </a:solidFill>
                <a:latin typeface="Aptos Display"/>
              </a:defRPr>
            </a:pPr>
            <a:r>
              <a:t>💬  Reflection Questions</a:t>
            </a:r>
          </a:p>
        </p:txBody>
      </p:sp>
      <p:sp>
        <p:nvSpPr>
          <p:cNvPr id="4" name="Rounded Rectangle 3"/>
          <p:cNvSpPr/>
          <p:nvPr/>
        </p:nvSpPr>
        <p:spPr>
          <a:xfrm>
            <a:off x="457200" y="1572768"/>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508760"/>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508760"/>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1728216"/>
            <a:ext cx="10881360" cy="822960"/>
          </a:xfrm>
          <a:prstGeom prst="rect">
            <a:avLst/>
          </a:prstGeom>
          <a:noFill/>
        </p:spPr>
        <p:txBody>
          <a:bodyPr wrap="square">
            <a:spAutoFit/>
          </a:bodyPr>
          <a:lstStyle/>
          <a:p>
            <a:pPr algn="l">
              <a:defRPr sz="2000" b="0" i="0">
                <a:solidFill>
                  <a:srgbClr val="0F172A"/>
                </a:solidFill>
                <a:latin typeface="Aptos"/>
              </a:defRPr>
            </a:pPr>
            <a:r>
              <a:t>What was hard about designing your algorithm?</a:t>
            </a:r>
          </a:p>
        </p:txBody>
      </p:sp>
      <p:sp>
        <p:nvSpPr>
          <p:cNvPr id="8" name="Rounded Rectangle 7"/>
          <p:cNvSpPr/>
          <p:nvPr/>
        </p:nvSpPr>
        <p:spPr>
          <a:xfrm>
            <a:off x="457200" y="2871216"/>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11480" y="2807208"/>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2807208"/>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3026664"/>
            <a:ext cx="10881360" cy="822960"/>
          </a:xfrm>
          <a:prstGeom prst="rect">
            <a:avLst/>
          </a:prstGeom>
          <a:noFill/>
        </p:spPr>
        <p:txBody>
          <a:bodyPr wrap="square">
            <a:spAutoFit/>
          </a:bodyPr>
          <a:lstStyle/>
          <a:p>
            <a:pPr algn="l">
              <a:defRPr sz="2000" b="0" i="0">
                <a:solidFill>
                  <a:srgbClr val="0F172A"/>
                </a:solidFill>
                <a:latin typeface="Aptos"/>
              </a:defRPr>
            </a:pPr>
            <a:r>
              <a:t>How did you make your algorithm clear and easy to follow?</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CF5"/>
        </a:solidFill>
        <a:effectLst/>
      </p:bgPr>
    </p:bg>
    <p:spTree>
      <p:nvGrpSpPr>
        <p:cNvPr id="1" name=""/>
        <p:cNvGrpSpPr/>
        <p:nvPr/>
      </p:nvGrpSpPr>
      <p:grpSpPr/>
      <p:sp>
        <p:nvSpPr>
          <p:cNvPr id="2" name="Rectangle 1"/>
          <p:cNvSpPr/>
          <p:nvPr/>
        </p:nvSpPr>
        <p:spPr>
          <a:xfrm>
            <a:off x="0" y="0"/>
            <a:ext cx="12191695" cy="126187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37160"/>
            <a:ext cx="10972800" cy="1005840"/>
          </a:xfrm>
          <a:prstGeom prst="rect">
            <a:avLst/>
          </a:prstGeom>
          <a:noFill/>
        </p:spPr>
        <p:txBody>
          <a:bodyPr wrap="square">
            <a:spAutoFit/>
          </a:bodyPr>
          <a:lstStyle/>
          <a:p>
            <a:pPr algn="l">
              <a:defRPr sz="2400" b="1" i="0">
                <a:solidFill>
                  <a:srgbClr val="FFFFFF"/>
                </a:solidFill>
                <a:latin typeface="Aptos Display"/>
              </a:defRPr>
            </a:pPr>
            <a:r>
              <a:t>📝  Teacher Notes</a:t>
            </a:r>
          </a:p>
        </p:txBody>
      </p:sp>
      <p:sp>
        <p:nvSpPr>
          <p:cNvPr id="4" name="TextBox 3"/>
          <p:cNvSpPr txBox="1"/>
          <p:nvPr/>
        </p:nvSpPr>
        <p:spPr>
          <a:xfrm>
            <a:off x="0" y="2286000"/>
            <a:ext cx="12191695" cy="2560320"/>
          </a:xfrm>
          <a:prstGeom prst="rect">
            <a:avLst/>
          </a:prstGeom>
          <a:noFill/>
        </p:spPr>
        <p:txBody>
          <a:bodyPr wrap="square">
            <a:spAutoFit/>
          </a:bodyPr>
          <a:lstStyle/>
          <a:p>
            <a:pPr algn="ctr">
              <a:defRPr sz="9600" b="1" i="0">
                <a:solidFill>
                  <a:srgbClr val="FDE68A"/>
                </a:solidFill>
                <a:latin typeface="Aptos Display"/>
              </a:defRPr>
            </a:pPr>
            <a:r>
              <a:t>TEACHER</a:t>
            </a:r>
          </a:p>
        </p:txBody>
      </p:sp>
      <p:sp>
        <p:nvSpPr>
          <p:cNvPr id="5" name="TextBox 4"/>
          <p:cNvSpPr txBox="1"/>
          <p:nvPr/>
        </p:nvSpPr>
        <p:spPr>
          <a:xfrm>
            <a:off x="502920" y="1389888"/>
            <a:ext cx="11247120" cy="5120640"/>
          </a:xfrm>
          <a:prstGeom prst="rect">
            <a:avLst/>
          </a:prstGeom>
          <a:noFill/>
        </p:spPr>
        <p:txBody>
          <a:bodyPr wrap="square">
            <a:spAutoFit/>
          </a:bodyPr>
          <a:lstStyle/>
          <a:p>
            <a:pPr>
              <a:lnSpc>
                <a:spcPct val="125000"/>
              </a:lnSpc>
              <a:spcAft>
                <a:spcPts val="800"/>
              </a:spcAft>
              <a:defRPr sz="1700">
                <a:solidFill>
                  <a:srgbClr val="0F172A"/>
                </a:solidFill>
                <a:latin typeface="Aptos"/>
              </a:defRPr>
            </a:pPr>
            <a:r>
              <a:t>•  Key misconceptions to watch for:</a:t>
            </a:r>
          </a:p>
          <a:p>
            <a:pPr>
              <a:lnSpc>
                <a:spcPct val="125000"/>
              </a:lnSpc>
              <a:spcAft>
                <a:spcPts val="800"/>
              </a:spcAft>
              <a:defRPr sz="1700">
                <a:solidFill>
                  <a:srgbClr val="0F172A"/>
                </a:solidFill>
                <a:latin typeface="Aptos"/>
              </a:defRPr>
            </a:pPr>
            <a:r>
              <a:t>•  Thinking algorithms can be vague or incomplete and still work.</a:t>
            </a:r>
          </a:p>
          <a:p>
            <a:pPr>
              <a:lnSpc>
                <a:spcPct val="125000"/>
              </a:lnSpc>
              <a:spcAft>
                <a:spcPts val="800"/>
              </a:spcAft>
              <a:defRPr sz="1700">
                <a:solidFill>
                  <a:srgbClr val="0F172A"/>
                </a:solidFill>
                <a:latin typeface="Aptos"/>
              </a:defRPr>
            </a:pPr>
            <a:r>
              <a:t>•  Confusing algorithms with unordered task lists lacking clarity.</a:t>
            </a:r>
          </a:p>
          <a:p>
            <a:pPr>
              <a:lnSpc>
                <a:spcPct val="125000"/>
              </a:lnSpc>
              <a:spcAft>
                <a:spcPts val="800"/>
              </a:spcAft>
              <a:defRPr sz="1700">
                <a:solidFill>
                  <a:srgbClr val="0F172A"/>
                </a:solidFill>
                <a:latin typeface="Aptos"/>
              </a:defRPr>
            </a:pPr>
            <a:r>
              <a:t>•  Differentiation ideas:</a:t>
            </a:r>
          </a:p>
          <a:p>
            <a:pPr>
              <a:lnSpc>
                <a:spcPct val="125000"/>
              </a:lnSpc>
              <a:spcAft>
                <a:spcPts val="800"/>
              </a:spcAft>
              <a:defRPr sz="1700">
                <a:solidFill>
                  <a:srgbClr val="0F172A"/>
                </a:solidFill>
                <a:latin typeface="Aptos"/>
              </a:defRPr>
            </a:pPr>
            <a:r>
              <a:t>•  Give sentence starters or templates to help structure algorithms.</a:t>
            </a:r>
          </a:p>
          <a:p>
            <a:pPr>
              <a:lnSpc>
                <a:spcPct val="125000"/>
              </a:lnSpc>
              <a:spcAft>
                <a:spcPts val="800"/>
              </a:spcAft>
              <a:defRPr sz="1700">
                <a:solidFill>
                  <a:srgbClr val="0F172A"/>
                </a:solidFill>
                <a:latin typeface="Aptos"/>
              </a:defRPr>
            </a:pPr>
            <a:r>
              <a:t>•  Challenge advanced students to add decision points or loops.</a:t>
            </a:r>
          </a:p>
          <a:p>
            <a:pPr>
              <a:lnSpc>
                <a:spcPct val="125000"/>
              </a:lnSpc>
              <a:spcAft>
                <a:spcPts val="800"/>
              </a:spcAft>
              <a:defRPr sz="1700">
                <a:solidFill>
                  <a:srgbClr val="0F172A"/>
                </a:solidFill>
                <a:latin typeface="Aptos"/>
              </a:defRPr>
            </a:pPr>
            <a:r>
              <a:t>•  Extension ideas:</a:t>
            </a:r>
          </a:p>
          <a:p>
            <a:pPr>
              <a:lnSpc>
                <a:spcPct val="125000"/>
              </a:lnSpc>
              <a:spcAft>
                <a:spcPts val="800"/>
              </a:spcAft>
              <a:defRPr sz="1700">
                <a:solidFill>
                  <a:srgbClr val="0F172A"/>
                </a:solidFill>
                <a:latin typeface="Aptos"/>
              </a:defRPr>
            </a:pPr>
            <a:r>
              <a:t>•  Turn the written algorithm into a flowchart or pseudocode.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