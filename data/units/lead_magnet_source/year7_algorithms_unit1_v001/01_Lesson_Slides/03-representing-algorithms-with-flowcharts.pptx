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kicking off this lesson with the 'Explore' phase, where students start to investigate the problem of representing algorithms visually. Keep it light and open to encourage curiosity. Use this moment to set the context that algorithms aren’t just lines of code—they can be mapped out visually. Transition smoothly by hinting that today we’ll discover a powerful tool to help with this: flowcharts.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This hook is designed to get students thinking about breaking down a familiar routine into clear steps and decisions. Ask them how they’d explain their morning routine to someone totally new—this makes the abstract idea of algorithms more relatable. Encourage a quick pair-share or whole-class discussion to surface ideas about sequencing and choices. Watch for students who might skip over decisions, as this will help you highlight why flowcharts include decision points.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As students watch the video, prompt them to listen for the main idea about how flowcharts help plan and visualize algorithms. After the video, ask them to share one key takeaway and how it connects to today’s lesson. This will help consolidate understanding and check engagement. Be ready to clarify any jargon or examples from the video that might confuse students.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moving into the 'Learn' section where we unpack key concepts about flowcharts. Emphasise that this is the core knowledge they’ll need before applying it. Make it clear that understanding symbols, flow, and decisions are foundational. Set the tone that this will be interactive and they should feel free to ask questions as concepts can be tricky at first.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Explain that flowcharts are a visual tool to break down algorithms step-by-step, using symbols and arrows. Use the sandwich-making example to make it concrete—everyone can picture making a sandwich, so it’s a great analogy. Stress the importance of following symbol rules to keep the chart easy to read. Watch out for students who want to write full sentences or code instead of simple actions, and gently steer them back to concise steps.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Here we introduce the main flowchart symbols, linking each to its purpose. Use the 'Is the bread toasted?' example to show how decisions work with Yes/No branches. Emphasise that using the correct shapes isn’t just about rules—it helps anyone reading the flowchart understand the process quickly. Be alert for students mixing up symbols, especially confusing decisions (diamonds) with actions (rectangles).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Focus on the role of arrows in showing the exact order and direction of steps in the algorithm. Use the weather example to illustrate how arrows clarify the path depending on conditions. Highlight what happens if arrows are missing or unclear—students should see how that creates confusion. Ask: What might happen if we skip arrows? This can reveal misunderstandings about flow and sequence.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this real-world example to connect flowcharts to something students care about—game design. Explain how game developers rely on flowcharts to plan complex choices and avoid bugs before coding. Encourage students to imagine how confusing a game would be without this planning. This connection helps solidify why flowcharts are practical, not just theoretical.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We’re shifting into the 'Apply' phase where students get hands-on experience creating their own flowcharts. Frame this as an opportunity to put theory into practice and make their thinking visible. Remind them that neatness and correct symbols matter—not just getting the idea down. Prepare students for collaboration by encouraging clear communication and shared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this paired activity by clearly explaining the task: design a flowchart for deciding what to wear based on weather. Emphasise including all required elements: start/end, actions, decisions, and arrows. Model a simple example if needed to set expectations. Circulate actively, checking that students use symbols correctly and that the flow is logical and complete. Support those who struggle by offering templates or guiding questions, and challenge advanced pairs to consider nested decisions like 'Is it cold AND raining?'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signals we’re moving into reflection. Encourage students to think about what they’ve learned and how their understanding has grown. Set the stage for meaningful discussion and retrieval practice. You can prompt students to jot down quick notes or share with a partner before the reflection questions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Use these reflection questions to deepen student understanding and reveal any lingering confusion. Guide a class discussion or small group chats focusing on how flowcharts clarify algorithms, challenges in symbol choice, and the role of flowcharts in programming communication. Listen for students who might still confuse symbols or overlook decisions, and gently clarify. This is a good spot to reinforce the big idea of flowcharts as a universal language for programmers.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Keep a close eye on common slip-ups like mixing symbols or missing arrows and decisions—these errors can make flowcharts hard to follow. For students needing support, offer templates that scaffold the process. For those ready to extend, encourage adding complexity with nested decisions or loops. Consider introducing pseudocode comparisons to challenge advanced learners and show different ways to represent algorithms visually and textually.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03</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Representing Algorithms with Flowcharts</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Algorithms &amp; Programming Logic: Unit 1 – Thinking Like a Programmer</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03</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Explain flowcharts’ role in algorithms</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Create flowcharts with standard symbols</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Spot and fix common flowchart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can flowcharts help us visualize and plan algorithms effectively?</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Imagine explaining your morning routine to a friend who’s never met you</a:t>
            </a:r>
            <a:br/>
            <a:br/>
            <a:r>
              <a:t>How would you clearly show each step and decision?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What Is a Flowchart?</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 flowchart uses symbols and arrows to map each step and decision in an algorithm</a:t>
            </a:r>
          </a:p>
          <a:p>
            <a:pPr>
              <a:lnSpc>
                <a:spcPct val="125000"/>
              </a:lnSpc>
              <a:spcAft>
                <a:spcPts val="1200"/>
              </a:spcAft>
              <a:defRPr sz="2000">
                <a:solidFill>
                  <a:srgbClr val="0F172A"/>
                </a:solidFill>
                <a:latin typeface="Aptos"/>
              </a:defRPr>
            </a:pPr>
            <a:r>
              <a:t>•  For example, making a sandwich: Start → Get bread → Add filling → Close sandwich → End</a:t>
            </a:r>
          </a:p>
          <a:p>
            <a:pPr>
              <a:lnSpc>
                <a:spcPct val="125000"/>
              </a:lnSpc>
              <a:spcAft>
                <a:spcPts val="1200"/>
              </a:spcAft>
              <a:defRPr sz="2000">
                <a:solidFill>
                  <a:srgbClr val="0F172A"/>
                </a:solidFill>
                <a:latin typeface="Aptos"/>
              </a:defRPr>
            </a:pPr>
            <a:r>
              <a:t>•  Following symbol rules keeps the flowchart clear and easy to follow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Common Flowchart Symbols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Ovals mark start/end, rectangles show actions, diamonds represent decisions</a:t>
            </a:r>
          </a:p>
          <a:p>
            <a:pPr>
              <a:lnSpc>
                <a:spcPct val="125000"/>
              </a:lnSpc>
              <a:spcAft>
                <a:spcPts val="1200"/>
              </a:spcAft>
              <a:defRPr sz="2000">
                <a:solidFill>
                  <a:srgbClr val="0F172A"/>
                </a:solidFill>
                <a:latin typeface="Aptos"/>
              </a:defRPr>
            </a:pPr>
            <a:r>
              <a:t>•  Example: A diamond asks, 'Is the bread toasted?' with arrows for Yes or No leading to different steps</a:t>
            </a:r>
          </a:p>
          <a:p>
            <a:pPr>
              <a:lnSpc>
                <a:spcPct val="125000"/>
              </a:lnSpc>
              <a:spcAft>
                <a:spcPts val="1200"/>
              </a:spcAft>
              <a:defRPr sz="2000">
                <a:solidFill>
                  <a:srgbClr val="0F172A"/>
                </a:solidFill>
                <a:latin typeface="Aptos"/>
              </a:defRPr>
            </a:pPr>
            <a:r>
              <a:t>•  Using correct symbols helps everyone understand the flow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Why Use Arrows?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Arrows link steps and decisions, showing the exact order</a:t>
            </a:r>
          </a:p>
          <a:p>
            <a:pPr>
              <a:lnSpc>
                <a:spcPct val="125000"/>
              </a:lnSpc>
              <a:spcAft>
                <a:spcPts val="1200"/>
              </a:spcAft>
              <a:defRPr sz="2000">
                <a:solidFill>
                  <a:srgbClr val="0F172A"/>
                </a:solidFill>
                <a:latin typeface="Aptos"/>
              </a:defRPr>
            </a:pPr>
            <a:r>
              <a:t>•  Without arrows, the flow is confusing</a:t>
            </a:r>
          </a:p>
          <a:p>
            <a:pPr>
              <a:lnSpc>
                <a:spcPct val="125000"/>
              </a:lnSpc>
              <a:spcAft>
                <a:spcPts val="1200"/>
              </a:spcAft>
              <a:defRPr sz="2000">
                <a:solidFill>
                  <a:srgbClr val="0F172A"/>
                </a:solidFill>
                <a:latin typeface="Aptos"/>
              </a:defRPr>
            </a:pPr>
            <a:r>
              <a:t>•  For example, from 'Is it raining?' a Yes arrow leads to 'Take umbrella,' a No arrow to 'Go outside.'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Flowcharts in Game Design</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Game developers use flowcharts to plan player choices and game events before coding.</a:t>
            </a:r>
          </a:p>
          <a:p>
            <a:pPr>
              <a:lnSpc>
                <a:spcPct val="125000"/>
              </a:lnSpc>
              <a:spcAft>
                <a:spcPts val="1200"/>
              </a:spcAft>
              <a:defRPr sz="2000">
                <a:solidFill>
                  <a:srgbClr val="0F172A"/>
                </a:solidFill>
                <a:latin typeface="Aptos"/>
              </a:defRPr>
            </a:pPr>
            <a:r>
              <a:t>→  Visualize complex game logic</a:t>
            </a:r>
          </a:p>
          <a:p>
            <a:pPr>
              <a:lnSpc>
                <a:spcPct val="125000"/>
              </a:lnSpc>
              <a:spcAft>
                <a:spcPts val="1200"/>
              </a:spcAft>
              <a:defRPr sz="2000">
                <a:solidFill>
                  <a:srgbClr val="0F172A"/>
                </a:solidFill>
                <a:latin typeface="Aptos"/>
              </a:defRPr>
            </a:pPr>
            <a:r>
              <a:t>→  Catch errors early</a:t>
            </a:r>
          </a:p>
          <a:p>
            <a:pPr>
              <a:lnSpc>
                <a:spcPct val="125000"/>
              </a:lnSpc>
              <a:spcAft>
                <a:spcPts val="1200"/>
              </a:spcAft>
              <a:defRPr sz="2000">
                <a:solidFill>
                  <a:srgbClr val="0F172A"/>
                </a:solidFill>
                <a:latin typeface="Aptos"/>
              </a:defRPr>
            </a:pPr>
            <a:r>
              <a:t>→  Create smoother, bug-free games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Create a Flowchart</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In pairs, design a flowchart for deciding what to wear based on weather</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Include: Start/end points, actions (e.g., 'Put on jacket'), decisions (e.g., 'Is it raining?'), and arrows showing flow</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neat flowchart that uses correct symbols and arrows to show the decision process clearly.</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Start and end points included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How did flowcharts clarify the algorithm?</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What was tricky about choosing symbols?</a:t>
            </a:r>
          </a:p>
        </p:txBody>
      </p:sp>
      <p:sp>
        <p:nvSpPr>
          <p:cNvPr id="12" name="Rounded Rectangle 11"/>
          <p:cNvSpPr/>
          <p:nvPr/>
        </p:nvSpPr>
        <p:spPr>
          <a:xfrm>
            <a:off x="457200" y="4169664"/>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 y="4105656"/>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 y="4105656"/>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10881360" cy="822960"/>
          </a:xfrm>
          <a:prstGeom prst="rect">
            <a:avLst/>
          </a:prstGeom>
          <a:noFill/>
        </p:spPr>
        <p:txBody>
          <a:bodyPr wrap="square">
            <a:spAutoFit/>
          </a:bodyPr>
          <a:lstStyle/>
          <a:p>
            <a:pPr algn="l">
              <a:defRPr sz="2000" b="0" i="0">
                <a:solidFill>
                  <a:srgbClr val="0F172A"/>
                </a:solidFill>
                <a:latin typeface="Aptos"/>
              </a:defRPr>
            </a:pPr>
            <a:r>
              <a:t>How do flowcharts help programmers communicate?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Students confuse or misuse symbols.</a:t>
            </a:r>
          </a:p>
          <a:p>
            <a:pPr>
              <a:lnSpc>
                <a:spcPct val="125000"/>
              </a:lnSpc>
              <a:spcAft>
                <a:spcPts val="800"/>
              </a:spcAft>
              <a:defRPr sz="1700">
                <a:solidFill>
                  <a:srgbClr val="0F172A"/>
                </a:solidFill>
                <a:latin typeface="Aptos"/>
              </a:defRPr>
            </a:pPr>
            <a:r>
              <a:t>•  Students omit decision points or arrows, causing confusion.</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Offer flowchart templates for extra support.</a:t>
            </a:r>
          </a:p>
          <a:p>
            <a:pPr>
              <a:lnSpc>
                <a:spcPct val="125000"/>
              </a:lnSpc>
              <a:spcAft>
                <a:spcPts val="800"/>
              </a:spcAft>
              <a:defRPr sz="1700">
                <a:solidFill>
                  <a:srgbClr val="0F172A"/>
                </a:solidFill>
                <a:latin typeface="Aptos"/>
              </a:defRPr>
            </a:pPr>
            <a:r>
              <a:t>•  Challenge advanced students to add nested decisions or loops.</a:t>
            </a:r>
          </a:p>
          <a:p>
            <a:pPr>
              <a:lnSpc>
                <a:spcPct val="125000"/>
              </a:lnSpc>
              <a:spcAft>
                <a:spcPts val="800"/>
              </a:spcAft>
              <a:defRPr sz="1700">
                <a:solidFill>
                  <a:srgbClr val="0F172A"/>
                </a:solidFill>
                <a:latin typeface="Aptos"/>
              </a:defRPr>
            </a:pPr>
            <a:r>
              <a:t>•  Extension ideas:</a:t>
            </a:r>
          </a:p>
          <a:p>
            <a:pPr>
              <a:lnSpc>
                <a:spcPct val="125000"/>
              </a:lnSpc>
              <a:spcAft>
                <a:spcPts val="800"/>
              </a:spcAft>
              <a:defRPr sz="1700">
                <a:solidFill>
                  <a:srgbClr val="0F172A"/>
                </a:solidFill>
                <a:latin typeface="Aptos"/>
              </a:defRPr>
            </a:pPr>
            <a:r>
              <a:t>•  Compare flowcharts with pseudocode to see visual vs. text-based algorithms.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