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We're kicking off with a quick look at the problem we'll explore today. Use this moment to set the scene: tell students that we'll be breaking down how to write clear instructions before coding. Emphasise that good planning saves time later when programming. Transition smoothly by saying something like, 'Before we write any code, we need a plan — and that’s where pseudocode comes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This hook is all about sparking curiosity and making the concept relatable. Ask students to think about how they’d explain their morning routine to a robot that knows nothing. Encourage them to consider what details are necessary and what might be confusing if instructions aren’t clear. This sets up why pseudocode is useful. You might ask, 'What could go wrong if your instructions aren’t detailed or clear enough?' to get them thinking critically.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As students watch the video, prompt them to listen for one main idea about pseudocode or planning algorithms. After the video, lead a quick discussion asking, 'What stood out as important, and how does that connect to writing pseudocode?' This helps anchor the video content to today’s lesson. Watch for students who might think pseudocode is actual code and clarify that it’s a planning tool, not a programming language.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Now we’re diving into the core ideas and concepts. Use this slide to signal a shift from introduction to learning. Remind students that understanding these basics will help them write clear, effective pseudocode. You can say, 'Let’s explore what pseudocode really is and how it helps programmers think through problems step-by-step.' This preps them for the upcoming detailed content.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that pseudocode is like writing instructions in everyday language but structured enough to guide programming later. Use the sandwich example to show how simple steps can map out a task clearly. Emphasise that it’s not exact code syntax, so students shouldn’t worry about spelling or punctuation. Watch for students trying to write actual code here — gently remind them that pseudocode is more about clarity and logic than coding rules.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This slide introduces control structures, which are key for making decisions and repeating actions in algorithms. Use the rain example to demonstrate how 'if', 'then', 'else', and loops help create dynamic instructions. Stress keeping instructions straightforward—no need for complex symbols or programming language keywords. Students often confuse pseudocode with real code syntax or add unnecessary details; remind them to focus on clear logic instead.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Use the coffee machine example to connect pseudocode to a real-world automated process. Highlight how clear step-by-step instructions let the machine handle user choices without errors. Ask students how poor planning might cause the machine to make mistakes or get stuck. This helps them see the practical value of pseudocode. You could ask, 'How does writing clear pseudocode prevent problems when programming devices?' to deepen their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Time to put theory into practice. This slide signals the start of the hands-on task. Motivate students by saying, 'Now that we’ve seen how pseudocode works, you’ll write your own for a simple game.' Explain that this activity will reinforce using control structures and sequencing in pseudocode. Encourage them to think carefully about order and decision points before writing.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the guessing game activity by clearly outlining the expectations: a step-by-step pseudocode script that includes decisions and loops. Remind students to use 'if' and 'else' to check guesses and a loop to repeat until the player guesses correctly. Circulate to check that steps are in logical order, decisions are clear, and loops are used appropriately. Support students struggling with structure by offering sentence starters or example snippets, and challenge advanced students to add nested conditions or extra features.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marks the reflection phase. Encourage students to think back on what they learned and how pseudocode helped them plan their game. Use this pause to solidify understanding before moving on. You might say, 'Let’s take a moment to review how pseudocode guided your thinking and where you found it tricky.' This sets up the next slide’s discussion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Lead a class discussion using these reflection questions to check understanding and encourage metacognition. Ask students to share how pseudocode helped them organise their thoughts and which parts—like using 'if' statements or loops—were challenging. Listen for misconceptions or gaps, such as confusion about how loops work. Use students’ responses to clarify or extend learning. You could also invite students to suggest how they might improve their pseudocode next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This slide is a reminder of common pitfalls to watch for: students thinking pseudocode must look like real code, being too vague, or mixing pseudocode with diagrams. Keep these in mind as you observe their work. Differentiation tips include providing templates for those needing extra support and encouraging advanced students to experiment with nested conditions. For extension, suggest turning their pseudocode into block code to make the connection between planning and programming tangible.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04</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Writing Pseudocode</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Algorithms &amp; Programming Logic: Unit 1 – Thinking Like a Programmer</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04</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Define pseudocode and its purpose</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Write pseudocode for a simple task</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Spot and fix common pseudocode errors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does pseudocode help plan and understand algorithms?</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Explain your morning routine to a robot step-by-step. How would you write clear instructions for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What is Pseudocode?</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Pseudocode is plain language that outlines algorithm steps clearly without coding rules</a:t>
            </a:r>
          </a:p>
          <a:p>
            <a:pPr>
              <a:lnSpc>
                <a:spcPct val="125000"/>
              </a:lnSpc>
              <a:spcAft>
                <a:spcPts val="1200"/>
              </a:spcAft>
              <a:defRPr sz="2000">
                <a:solidFill>
                  <a:srgbClr val="0F172A"/>
                </a:solidFill>
                <a:latin typeface="Aptos"/>
              </a:defRPr>
            </a:pPr>
            <a:r>
              <a:t>•  It helps plan tasks simply</a:t>
            </a:r>
          </a:p>
          <a:p>
            <a:pPr>
              <a:lnSpc>
                <a:spcPct val="125000"/>
              </a:lnSpc>
              <a:spcAft>
                <a:spcPts val="1200"/>
              </a:spcAft>
              <a:defRPr sz="2000">
                <a:solidFill>
                  <a:srgbClr val="0F172A"/>
                </a:solidFill>
                <a:latin typeface="Aptos"/>
              </a:defRPr>
            </a:pPr>
            <a:r>
              <a:t>•  Example: Making a sandwich—1</a:t>
            </a:r>
          </a:p>
          <a:p>
            <a:pPr>
              <a:lnSpc>
                <a:spcPct val="125000"/>
              </a:lnSpc>
              <a:spcAft>
                <a:spcPts val="1200"/>
              </a:spcAft>
              <a:defRPr sz="2000">
                <a:solidFill>
                  <a:srgbClr val="0F172A"/>
                </a:solidFill>
                <a:latin typeface="Aptos"/>
              </a:defRPr>
            </a:pPr>
            <a:r>
              <a:t>•  Take two bread slices 2</a:t>
            </a:r>
          </a:p>
          <a:p>
            <a:pPr>
              <a:lnSpc>
                <a:spcPct val="125000"/>
              </a:lnSpc>
              <a:spcAft>
                <a:spcPts val="1200"/>
              </a:spcAft>
              <a:defRPr sz="2000">
                <a:solidFill>
                  <a:srgbClr val="0F172A"/>
                </a:solidFill>
                <a:latin typeface="Aptos"/>
              </a:defRPr>
            </a:pPr>
            <a:r>
              <a:t>•  Spread peanut butter on one 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Control Structures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Use 'if', 'then', 'else', and loops like 'repeat' to show choices and repeats</a:t>
            </a:r>
          </a:p>
          <a:p>
            <a:pPr>
              <a:lnSpc>
                <a:spcPct val="125000"/>
              </a:lnSpc>
              <a:spcAft>
                <a:spcPts val="1200"/>
              </a:spcAft>
              <a:defRPr sz="2000">
                <a:solidFill>
                  <a:srgbClr val="0F172A"/>
                </a:solidFill>
                <a:latin typeface="Aptos"/>
              </a:defRPr>
            </a:pPr>
            <a:r>
              <a:t>•  Example: If it’s raining then take an umbrella else wear sunglasses</a:t>
            </a:r>
          </a:p>
          <a:p>
            <a:pPr>
              <a:lnSpc>
                <a:spcPct val="125000"/>
              </a:lnSpc>
              <a:spcAft>
                <a:spcPts val="1200"/>
              </a:spcAft>
              <a:defRPr sz="2000">
                <a:solidFill>
                  <a:srgbClr val="0F172A"/>
                </a:solidFill>
                <a:latin typeface="Aptos"/>
              </a:defRPr>
            </a:pPr>
            <a:r>
              <a:t>•  Keep instructions simple—no complex symbols needed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Automated Coffee Machine</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This machine follows step-by-step instructions to make coffee based on user choices.</a:t>
            </a:r>
          </a:p>
          <a:p>
            <a:pPr>
              <a:lnSpc>
                <a:spcPct val="125000"/>
              </a:lnSpc>
              <a:spcAft>
                <a:spcPts val="1200"/>
              </a:spcAft>
              <a:defRPr sz="2000">
                <a:solidFill>
                  <a:srgbClr val="0F172A"/>
                </a:solidFill>
                <a:latin typeface="Aptos"/>
              </a:defRPr>
            </a:pPr>
            <a:r>
              <a:t>→  Clear pseudocode guides correct machine actions.</a:t>
            </a:r>
          </a:p>
          <a:p>
            <a:pPr>
              <a:lnSpc>
                <a:spcPct val="125000"/>
              </a:lnSpc>
              <a:spcAft>
                <a:spcPts val="1200"/>
              </a:spcAft>
              <a:defRPr sz="2000">
                <a:solidFill>
                  <a:srgbClr val="0F172A"/>
                </a:solidFill>
                <a:latin typeface="Aptos"/>
              </a:defRPr>
            </a:pPr>
            <a:r>
              <a:t>→  It handles different options smoothly.</a:t>
            </a:r>
          </a:p>
          <a:p>
            <a:pPr>
              <a:lnSpc>
                <a:spcPct val="125000"/>
              </a:lnSpc>
              <a:spcAft>
                <a:spcPts val="1200"/>
              </a:spcAft>
              <a:defRPr sz="2000">
                <a:solidFill>
                  <a:srgbClr val="0F172A"/>
                </a:solidFill>
                <a:latin typeface="Aptos"/>
              </a:defRPr>
            </a:pPr>
            <a:r>
              <a:t>→  Good planning prevents programming errors.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Write Pseudocode: Guessing Game</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Individually write pseudocode for a guessing game</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The computer picks a number; the player guesses</a:t>
            </a:r>
          </a:p>
        </p:txBody>
      </p:sp>
      <p:sp>
        <p:nvSpPr>
          <p:cNvPr id="9" name="Oval 8"/>
          <p:cNvSpPr/>
          <p:nvPr/>
        </p:nvSpPr>
        <p:spPr>
          <a:xfrm>
            <a:off x="411480" y="3218688"/>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3</a:t>
            </a:r>
          </a:p>
        </p:txBody>
      </p:sp>
      <p:sp>
        <p:nvSpPr>
          <p:cNvPr id="10" name="TextBox 9"/>
          <p:cNvSpPr txBox="1"/>
          <p:nvPr/>
        </p:nvSpPr>
        <p:spPr>
          <a:xfrm>
            <a:off x="1024128" y="3255264"/>
            <a:ext cx="10881360" cy="530352"/>
          </a:xfrm>
          <a:prstGeom prst="rect">
            <a:avLst/>
          </a:prstGeom>
          <a:noFill/>
        </p:spPr>
        <p:txBody>
          <a:bodyPr wrap="square">
            <a:spAutoFit/>
          </a:bodyPr>
          <a:lstStyle/>
          <a:p>
            <a:pPr algn="l">
              <a:defRPr sz="1800" b="0" i="0">
                <a:solidFill>
                  <a:srgbClr val="0F172A"/>
                </a:solidFill>
                <a:latin typeface="Aptos"/>
              </a:defRPr>
            </a:pPr>
            <a:r>
              <a:t>Include hints if the guess is too high or too low, and repeat until correct</a:t>
            </a:r>
          </a:p>
        </p:txBody>
      </p:sp>
      <p:sp>
        <p:nvSpPr>
          <p:cNvPr id="11" name="Rounded Rectangle 10"/>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3" name="TextBox 12"/>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step-by-step pseudocode script with decisions and loops showing the game flow.</a:t>
            </a:r>
          </a:p>
        </p:txBody>
      </p:sp>
      <p:sp>
        <p:nvSpPr>
          <p:cNvPr id="14" name="TextBox 13"/>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Steps follow a clear order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How did pseudocode help you plan your game?</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What was hard about using 'if' and loops in pseudocode?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Pseudocode must match exact code syntax.</a:t>
            </a:r>
          </a:p>
          <a:p>
            <a:pPr>
              <a:lnSpc>
                <a:spcPct val="125000"/>
              </a:lnSpc>
              <a:spcAft>
                <a:spcPts val="800"/>
              </a:spcAft>
              <a:defRPr sz="1700">
                <a:solidFill>
                  <a:srgbClr val="0F172A"/>
                </a:solidFill>
                <a:latin typeface="Aptos"/>
              </a:defRPr>
            </a:pPr>
            <a:r>
              <a:t>•  Instructions are too vague or miss key decisions.</a:t>
            </a:r>
          </a:p>
          <a:p>
            <a:pPr>
              <a:lnSpc>
                <a:spcPct val="125000"/>
              </a:lnSpc>
              <a:spcAft>
                <a:spcPts val="800"/>
              </a:spcAft>
              <a:defRPr sz="1700">
                <a:solidFill>
                  <a:srgbClr val="0F172A"/>
                </a:solidFill>
                <a:latin typeface="Aptos"/>
              </a:defRPr>
            </a:pPr>
            <a:r>
              <a:t>•  Confusing pseudocode with flowcharts or diagrams.</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Provide sentence starters or templates for support.</a:t>
            </a:r>
          </a:p>
          <a:p>
            <a:pPr>
              <a:lnSpc>
                <a:spcPct val="125000"/>
              </a:lnSpc>
              <a:spcAft>
                <a:spcPts val="800"/>
              </a:spcAft>
              <a:defRPr sz="1700">
                <a:solidFill>
                  <a:srgbClr val="0F172A"/>
                </a:solidFill>
                <a:latin typeface="Aptos"/>
              </a:defRPr>
            </a:pPr>
            <a:r>
              <a:t>•  Challenge advanced students with nested conditions or multiple loops.</a:t>
            </a:r>
          </a:p>
          <a:p>
            <a:pPr>
              <a:lnSpc>
                <a:spcPct val="125000"/>
              </a:lnSpc>
              <a:spcAft>
                <a:spcPts val="800"/>
              </a:spcAft>
              <a:defRPr sz="1700">
                <a:solidFill>
                  <a:srgbClr val="0F172A"/>
                </a:solidFill>
                <a:latin typeface="Aptos"/>
              </a:defRPr>
            </a:pPr>
            <a:r>
              <a:t>•  Extension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