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signals the start of our hands-on exploration phase. Briefly explain to students that we're moving from theory to investigation. Encourage them to think like programmers who need to dig into problems carefully. Set the expectation that we'll be looking closely at what causes issues in code and how to find them. Transition smoothly by saying something like, 'Now that we understand what logic errors are, let's dive in and explore how to spot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this hook to spark curiosity and personal connection. Ask students to share any times technology didn’t work as expected and how they or someone else fixed it—this could be a phone app, game, or even a calculator. Then, focus their thinking on the example: a program calculating an average but giving the wrong answer. Invite them to brainstorm possible reasons why. This sets up the essential question and primes them to think critically about errors beyond crashes.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As you show the video, prompt students to listen for the main idea—perhaps how logic errors sneak past syntax checks or why debugging is important. After the video, ask them to share one key takeaway and how it relates to today’s lesson on fixing logic errors. Watch for students who might confuse logic errors with syntax errors and clarify if needed. This quick visual and auditory input will reinforce our focus on finding and fixing hidden bugs.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introduces the core concepts we’ll unpack next. Briefly explain that we’ll now define what logic errors are and explore practical strategies to debug them. Emphasise that understanding these ideas is crucial for writing programs that work correctly. Transition by saying, 'Let’s get into the nitty-gritty of what these tricky errors look like and how to tackle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Here, clarify that logic errors don’t stop a program from running but cause it to behave incorrectly. Use the example of subtracting instead of adding to illustrate how a small mistake in reasoning affects output. Highlight the difference from syntax errors, which usually throw clear error messages. Watch for students who might think any error must cause a crash—remind them that logic errors are sneaky because the program runs but gives wrong results. Ask, 'Why might a program run without errors but still produce the wrong answer?' to check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practical debugging strategies: checking code carefully line-by-line, adding print statements to see what the program is doing internally, and testing with different inputs to catch hidden problems. Use the example of adding a print inside a loop to confirm it runs the right number of times—this concrete example helps students visualise the process. Warn against guessing fixes without testing, as this can waste time or create new errors. Emphasise that debugging is systematic and detective-like.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Connect debugging to a real-world context students can relate to: game development. Explain how logic errors might cause a character to move incorrectly or scores to be calculated wrong, which would frustrate players. Stress that fixing these errors ensures smooth, fair gameplay, improving user experience. Use this example to reinforce that debugging isn’t just classroom theory—it’s essential in professional programming. Invite students to think of other areas where debugging might be critical.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signals the transition from learning concepts to applying them. Tell students they will now get hands-on with debugging a real piece of code that contains a logic error. Encourage them to use the strategies discussed earlier. To set the tone, say something like, 'It’s your turn to be the detective and fix the problem in this program.' Prompt them to stay systematic and patient as they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Introduce the activity clearly by walking through the steps students will follow: first identifying the error through reading and testing, then adding print statements to understand what’s happening, correcting the mistake, and finally testing their fix with various inputs. Define success as producing a program that runs correctly and handles different cases well. As you circulate, look for students who might jump to fixes without fully understanding the error or those struggling to interpret print outputs. Offer hints to scaffold their thinking and encourage peer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cues the reflection phase. Prompt students to prepare for a short discussion or written reflection about their debugging experience. You might say, 'Let’s take a moment to think about what was tricky and what helped you fix those logic errors.' Emphasise that reflecting helps solidify learning and will prepare them for future programming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Use these reflection questions to guide a whole-class or small-group discussion. Encourage students to share which part of finding the error was hardest—was it spotting the mistake, understanding outputs, or something else? Ask how testing with different inputs contributed to confirming their fix. Finally, discuss why debugging is a vital skill for all programmers. This is a good opportunity to check for misconceptions and deepen understanding by asking follow-up questions based on their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This slide is for your behind-the-scenes guidance. Keep an eye out for students who think logic errors will show error messages—remind them these errors are silent and require careful checking. Watch for guesses at fixes without testing, which often leads to frustration. Differentiate by offering simpler code to those who need it and challenge advanced students with more complex errors or multiple bugs. If time allows, introduce stepping through code with debugging tools to extend learning beyond print statements.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05</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Debugging Logic Errors</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Algorithms &amp; Programming Logic: Unit 1 – Thinking Like a Programmer</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05</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Identify logic errors and their effects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Use debugging steps to find errors in code</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Fix errors and test programs thoroughly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we find and fix logic errors to make programs work correctly?</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Imagine your program calculates an average but gives the wrong answer</a:t>
            </a:r>
            <a:br/>
            <a:br/>
            <a:r>
              <a:t>What might be wrong? Think of times tech failed and how you fixed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Are Logic Errors?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Logic errors run without crashing but produce wrong results due to faulty code reasoning</a:t>
            </a:r>
          </a:p>
          <a:p>
            <a:pPr>
              <a:lnSpc>
                <a:spcPct val="125000"/>
              </a:lnSpc>
              <a:spcAft>
                <a:spcPts val="1200"/>
              </a:spcAft>
              <a:defRPr sz="2000">
                <a:solidFill>
                  <a:srgbClr val="0F172A"/>
                </a:solidFill>
                <a:latin typeface="Aptos"/>
              </a:defRPr>
            </a:pPr>
            <a:r>
              <a:t>•  For example, a program subtracting numbers instead of adding them</a:t>
            </a:r>
          </a:p>
          <a:p>
            <a:pPr>
              <a:lnSpc>
                <a:spcPct val="125000"/>
              </a:lnSpc>
              <a:spcAft>
                <a:spcPts val="1200"/>
              </a:spcAft>
              <a:defRPr sz="2000">
                <a:solidFill>
                  <a:srgbClr val="0F172A"/>
                </a:solidFill>
                <a:latin typeface="Aptos"/>
              </a:defRPr>
            </a:pPr>
            <a:r>
              <a:t>•  Unlike syntax errors, logic errors don't show error messages but cause incorrect outputs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Debugging Strategies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Find logic errors by checking code line-by-line, adding print statements to track values, and testing with varied inputs</a:t>
            </a:r>
          </a:p>
          <a:p>
            <a:pPr>
              <a:lnSpc>
                <a:spcPct val="125000"/>
              </a:lnSpc>
              <a:spcAft>
                <a:spcPts val="1200"/>
              </a:spcAft>
              <a:defRPr sz="2000">
                <a:solidFill>
                  <a:srgbClr val="0F172A"/>
                </a:solidFill>
                <a:latin typeface="Aptos"/>
              </a:defRPr>
            </a:pPr>
            <a:r>
              <a:t>•  For example, print inside a loop to verify it runs the correct times</a:t>
            </a:r>
          </a:p>
          <a:p>
            <a:pPr>
              <a:lnSpc>
                <a:spcPct val="125000"/>
              </a:lnSpc>
              <a:spcAft>
                <a:spcPts val="1200"/>
              </a:spcAft>
              <a:defRPr sz="2000">
                <a:solidFill>
                  <a:srgbClr val="0F172A"/>
                </a:solidFill>
                <a:latin typeface="Aptos"/>
              </a:defRPr>
            </a:pPr>
            <a:r>
              <a:t>•  Avoid guessing fixes without testing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Debugging in Game Dev</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Game developers fix logic errors causing wrong character moves or score calculations.</a:t>
            </a:r>
          </a:p>
          <a:p>
            <a:pPr>
              <a:lnSpc>
                <a:spcPct val="125000"/>
              </a:lnSpc>
              <a:spcAft>
                <a:spcPts val="1200"/>
              </a:spcAft>
              <a:defRPr sz="2000">
                <a:solidFill>
                  <a:srgbClr val="0F172A"/>
                </a:solidFill>
                <a:latin typeface="Aptos"/>
              </a:defRPr>
            </a:pPr>
            <a:r>
              <a:t>→  Debugging ensures fair, smooth gameplay</a:t>
            </a:r>
          </a:p>
          <a:p>
            <a:pPr>
              <a:lnSpc>
                <a:spcPct val="125000"/>
              </a:lnSpc>
              <a:spcAft>
                <a:spcPts val="1200"/>
              </a:spcAft>
              <a:defRPr sz="2000">
                <a:solidFill>
                  <a:srgbClr val="0F172A"/>
                </a:solidFill>
                <a:latin typeface="Aptos"/>
              </a:defRPr>
            </a:pPr>
            <a:r>
              <a:t>→  Fixing errors improves player experience</a:t>
            </a:r>
          </a:p>
          <a:p>
            <a:pPr>
              <a:lnSpc>
                <a:spcPct val="125000"/>
              </a:lnSpc>
              <a:spcAft>
                <a:spcPts val="1200"/>
              </a:spcAft>
              <a:defRPr sz="2000">
                <a:solidFill>
                  <a:srgbClr val="0F172A"/>
                </a:solidFill>
                <a:latin typeface="Aptos"/>
              </a:defRPr>
            </a:pPr>
            <a:r>
              <a:t>→  Debugging is vital in real programming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Fix a Logic Error</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You will get a short program with a logic error</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Follow these steps: 1) Identify the error by reading and testing the code</a:t>
            </a:r>
          </a:p>
        </p:txBody>
      </p:sp>
      <p:sp>
        <p:nvSpPr>
          <p:cNvPr id="9" name="Oval 8"/>
          <p:cNvSpPr/>
          <p:nvPr/>
        </p:nvSpPr>
        <p:spPr>
          <a:xfrm>
            <a:off x="411480" y="3218688"/>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10" name="TextBox 9"/>
          <p:cNvSpPr txBox="1"/>
          <p:nvPr/>
        </p:nvSpPr>
        <p:spPr>
          <a:xfrm>
            <a:off x="1024128" y="3255264"/>
            <a:ext cx="10881360" cy="530352"/>
          </a:xfrm>
          <a:prstGeom prst="rect">
            <a:avLst/>
          </a:prstGeom>
          <a:noFill/>
        </p:spPr>
        <p:txBody>
          <a:bodyPr wrap="square">
            <a:spAutoFit/>
          </a:bodyPr>
          <a:lstStyle/>
          <a:p>
            <a:pPr algn="l">
              <a:defRPr sz="1800" b="0" i="0">
                <a:solidFill>
                  <a:srgbClr val="0F172A"/>
                </a:solidFill>
                <a:latin typeface="Aptos"/>
              </a:defRPr>
            </a:pPr>
            <a:r>
              <a:t>2) Add print statements to check values</a:t>
            </a:r>
          </a:p>
        </p:txBody>
      </p:sp>
      <p:sp>
        <p:nvSpPr>
          <p:cNvPr id="11" name="Oval 10"/>
          <p:cNvSpPr/>
          <p:nvPr/>
        </p:nvSpPr>
        <p:spPr>
          <a:xfrm>
            <a:off x="411480" y="4096512"/>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4</a:t>
            </a:r>
          </a:p>
        </p:txBody>
      </p:sp>
      <p:sp>
        <p:nvSpPr>
          <p:cNvPr id="12" name="TextBox 11"/>
          <p:cNvSpPr txBox="1"/>
          <p:nvPr/>
        </p:nvSpPr>
        <p:spPr>
          <a:xfrm>
            <a:off x="1024128" y="4133088"/>
            <a:ext cx="10881360" cy="530352"/>
          </a:xfrm>
          <a:prstGeom prst="rect">
            <a:avLst/>
          </a:prstGeom>
          <a:noFill/>
        </p:spPr>
        <p:txBody>
          <a:bodyPr wrap="square">
            <a:spAutoFit/>
          </a:bodyPr>
          <a:lstStyle/>
          <a:p>
            <a:pPr algn="l">
              <a:defRPr sz="1800" b="0" i="0">
                <a:solidFill>
                  <a:srgbClr val="0F172A"/>
                </a:solidFill>
                <a:latin typeface="Aptos"/>
              </a:defRPr>
            </a:pPr>
            <a:r>
              <a:t>3) Correct the error</a:t>
            </a:r>
          </a:p>
        </p:txBody>
      </p:sp>
      <p:sp>
        <p:nvSpPr>
          <p:cNvPr id="13" name="Rounded Rectangle 12"/>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5" name="TextBox 14"/>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corrected program that runs correctly and produces expected results with multiple tests.</a:t>
            </a:r>
          </a:p>
        </p:txBody>
      </p:sp>
      <p:sp>
        <p:nvSpPr>
          <p:cNvPr id="16" name="TextBox 15"/>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Error identified and explained clearly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was the hardest part of finding the error?</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did testing different inputs help you?</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Why is debugging an essential skill?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Logic errors don’t produce error messages like syntax errors.</a:t>
            </a:r>
          </a:p>
          <a:p>
            <a:pPr>
              <a:lnSpc>
                <a:spcPct val="125000"/>
              </a:lnSpc>
              <a:spcAft>
                <a:spcPts val="800"/>
              </a:spcAft>
              <a:defRPr sz="1700">
                <a:solidFill>
                  <a:srgbClr val="0F172A"/>
                </a:solidFill>
                <a:latin typeface="Aptos"/>
              </a:defRPr>
            </a:pPr>
            <a:r>
              <a:t>•  Guessing fixes without testing rarely solves logic errors.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Offer simpler code samples for extra support.</a:t>
            </a:r>
          </a:p>
          <a:p>
            <a:pPr>
              <a:lnSpc>
                <a:spcPct val="125000"/>
              </a:lnSpc>
              <a:spcAft>
                <a:spcPts val="800"/>
              </a:spcAft>
              <a:defRPr sz="1700">
                <a:solidFill>
                  <a:srgbClr val="0F172A"/>
                </a:solidFill>
                <a:latin typeface="Aptos"/>
              </a:defRPr>
            </a:pPr>
            <a:r>
              <a:t>•  Challenge advanced students with programs having multiple errors.</a:t>
            </a:r>
          </a:p>
          <a:p>
            <a:pPr>
              <a:lnSpc>
                <a:spcPct val="125000"/>
              </a:lnSpc>
              <a:spcAft>
                <a:spcPts val="800"/>
              </a:spcAft>
              <a:defRPr sz="1700">
                <a:solidFill>
                  <a:srgbClr val="0F172A"/>
                </a:solidFill>
                <a:latin typeface="Aptos"/>
              </a:defRPr>
            </a:pPr>
            <a:r>
              <a:t>•  Extension ideas:</a:t>
            </a:r>
          </a:p>
          <a:p>
            <a:pPr>
              <a:lnSpc>
                <a:spcPct val="125000"/>
              </a:lnSpc>
              <a:spcAft>
                <a:spcPts val="800"/>
              </a:spcAft>
              <a:defRPr sz="1700">
                <a:solidFill>
                  <a:srgbClr val="0F172A"/>
                </a:solidFill>
                <a:latin typeface="Aptos"/>
              </a:defRPr>
            </a:pPr>
            <a:r>
              <a:t>•  Introduce using debuggers or IDE tools to step through code and watch variables.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