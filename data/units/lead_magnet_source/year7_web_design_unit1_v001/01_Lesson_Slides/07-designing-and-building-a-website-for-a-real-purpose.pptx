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marks the start of our investigation phase. Briefly explain to students that they will explore a real problem that needs solving through website design. Emphasise that understanding the problem deeply is crucial before jumping into building. Transition by suggesting they think about what kind of information visitors might want and how to make it easy to find.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Use this hook to spark curiosity and get students thinking practically. Read the scenario aloud and ask students how they would approach designing this club website. Encourage them to consider who the visitors are and what they want to see first. Watch for students focusing too much on flashy features rather than usability. Ask: How can we make sure visitors find information quickly without getting lost?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prompt students to listen for one key idea that stands out about website design. After the video, lead a quick discussion connecting that idea to today’s lesson. For example, if the video mentions user-friendly navigation, highlight how this ties into serving a real audience. Watch for students who might miss the connection between the video and the project’s purpose.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introduces the core concepts we’ll focus on today. Tell students that understanding these ideas will help them design websites that really work for their audiences. Use this slide to set expectations: they’ll learn about purpose, audience, layout, and real-world examples before applying what they learn. Transition smoothly by saying, 'Let’s dive into what makes a website effective.'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that every website’s design must start with knowing its purpose and audience. Use the school club example to show how content choices depend on who will use the site. Emphasise that different audiences need different information and layouts. Watch for students assuming one design fits all websites — challenge this by asking what would change if the audience were younger kids or elderly community members.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Here, focus on the importance of a clear, simple layout. Compare a website with clear menus to a messy one with confusing colours and labels. Point out that clarity helps users find info quickly, which is more important than just looking flashy. Some students may think more colours or effects make a site better — remind them that usability beats decoration. Ask: What menu labels would you use to help visitors navigate easily?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Use this real-world example of the local library website to show how design meets community needs. Unpack how clear sections and simple design help different users, from kids looking for books to adults checking events. Connect back to the big idea: effective websites serve their audience well. Encourage students to think about how they can apply these principles to their own website projects.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Introduce the application phase where students will put concepts into practice. Emphasise that this is their chance to create a website with a real purpose and audience in mind. Remind them to refer back to what they learned about purpose, audience, and layout. Transition by saying, 'Let’s start planning your websites step-by-step.'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this activity by clearly explaining each step and the expected output: a working multi-page website with clear navigation. Stress the importance of planning before building—students should carefully list pages and create a site map first. Circulate to check that students’ page choices fit their chosen purpose and audience. Watch for navigation menus that don’t match the content or are confusing. Remind them that the homepage should introduce the site clearly and link logically to other pages.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slide signals time to pause and reflect on the learning and work done. Encourage students to think about what they learned about designing for a real purpose and how their websites came together. Use this as a moment to prepare them for deeper reflection with the next slide’s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Guide a class discussion using these reflection questions. Ask students to share how their website’s purpose influenced design choices, what they found tricky about organising content, and what improvements they’d make with more time. Listen for insights about audience needs and navigation challenges. Use responses to clarify any misunderstandings and reinforce key concepts. This is also a good opportunity to celebrate creative solutions.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Use this slide as a quick teaching checkpoint. Remind yourself to watch for common misconceptions like thinking all websites should look the same or that adding lots of colours improves usability. Support students who struggle by offering site map templates. Challenge advanced learners to add multimedia or interactive features to deepen their skills. Suggest peer feedback as an extension to help students refine their websites and practice constructive critique.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07</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Designing and Building a Website</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Websites &amp; Web Design: Unit 1 – Building Your First Website</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07</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Identify a website’s purpose and audience.</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Design a clear, user-friendly layout.</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Build a basic website structure that fits the purpose.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can we design and build a website that serves a real purpose?</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Your school club needs a website to share news, events, and photos with members and parents</a:t>
            </a:r>
            <a:br/>
            <a:br/>
            <a:r>
              <a:t>How would you design it so visitors find information quickly?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Website Purpose &amp; Audience</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Website design depends on its purpose and users</a:t>
            </a:r>
          </a:p>
          <a:p>
            <a:pPr>
              <a:lnSpc>
                <a:spcPct val="125000"/>
              </a:lnSpc>
              <a:spcAft>
                <a:spcPts val="1200"/>
              </a:spcAft>
              <a:defRPr sz="2000">
                <a:solidFill>
                  <a:srgbClr val="0F172A"/>
                </a:solidFill>
                <a:latin typeface="Aptos"/>
              </a:defRPr>
            </a:pPr>
            <a:r>
              <a:t>•  For example, a school club site should have event calendars and photo galleries to keep members and parents informed</a:t>
            </a:r>
          </a:p>
          <a:p>
            <a:pPr>
              <a:lnSpc>
                <a:spcPct val="125000"/>
              </a:lnSpc>
              <a:spcAft>
                <a:spcPts val="1200"/>
              </a:spcAft>
              <a:defRPr sz="2000">
                <a:solidFill>
                  <a:srgbClr val="0F172A"/>
                </a:solidFill>
                <a:latin typeface="Aptos"/>
              </a:defRPr>
            </a:pPr>
            <a:r>
              <a:t>•  Designs vary because different audiences need different content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Clear &amp; Friendly Layout</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Organize content logically and use simple menus to help users find info fast</a:t>
            </a:r>
          </a:p>
          <a:p>
            <a:pPr>
              <a:lnSpc>
                <a:spcPct val="125000"/>
              </a:lnSpc>
              <a:spcAft>
                <a:spcPts val="1200"/>
              </a:spcAft>
              <a:defRPr sz="2000">
                <a:solidFill>
                  <a:srgbClr val="0F172A"/>
                </a:solidFill>
                <a:latin typeface="Aptos"/>
              </a:defRPr>
            </a:pPr>
            <a:r>
              <a:t>•  For example, menus labeled 'About Us,' 'Events,' and 'Gallery' guide visitors easily</a:t>
            </a:r>
          </a:p>
          <a:p>
            <a:pPr>
              <a:lnSpc>
                <a:spcPct val="125000"/>
              </a:lnSpc>
              <a:spcAft>
                <a:spcPts val="1200"/>
              </a:spcAft>
              <a:defRPr sz="2000">
                <a:solidFill>
                  <a:srgbClr val="0F172A"/>
                </a:solidFill>
                <a:latin typeface="Aptos"/>
              </a:defRPr>
            </a:pPr>
            <a:r>
              <a:t>•  Fancy colors don’t guarantee easier use; clarity is key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Local Library Website</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The local library website has sections for book catalogs, event calendars, and membership info, designed for all community members</a:t>
            </a:r>
          </a:p>
          <a:p>
            <a:pPr>
              <a:lnSpc>
                <a:spcPct val="125000"/>
              </a:lnSpc>
              <a:spcAft>
                <a:spcPts val="1200"/>
              </a:spcAft>
              <a:defRPr sz="2000">
                <a:solidFill>
                  <a:srgbClr val="0F172A"/>
                </a:solidFill>
                <a:latin typeface="Aptos"/>
              </a:defRPr>
            </a:pPr>
            <a:r>
              <a:t>→  Clear sections help users find books and events quickly.</a:t>
            </a:r>
          </a:p>
          <a:p>
            <a:pPr>
              <a:lnSpc>
                <a:spcPct val="125000"/>
              </a:lnSpc>
              <a:spcAft>
                <a:spcPts val="1200"/>
              </a:spcAft>
              <a:defRPr sz="2000">
                <a:solidFill>
                  <a:srgbClr val="0F172A"/>
                </a:solidFill>
                <a:latin typeface="Aptos"/>
              </a:defRPr>
            </a:pPr>
            <a:r>
              <a:t>→  Simple design encourages community participation.</a:t>
            </a:r>
          </a:p>
          <a:p>
            <a:pPr>
              <a:lnSpc>
                <a:spcPct val="125000"/>
              </a:lnSpc>
              <a:spcAft>
                <a:spcPts val="1200"/>
              </a:spcAft>
              <a:defRPr sz="2000">
                <a:solidFill>
                  <a:srgbClr val="0F172A"/>
                </a:solidFill>
                <a:latin typeface="Aptos"/>
              </a:defRPr>
            </a:pPr>
            <a:r>
              <a:t>→  Content fits the needs of different users.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Plan and Build Your Website</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Pick a real purpose (e.g., school club or local business)</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Step 1: List at least three main pages and their content</a:t>
            </a:r>
          </a:p>
        </p:txBody>
      </p:sp>
      <p:sp>
        <p:nvSpPr>
          <p:cNvPr id="9" name="Oval 8"/>
          <p:cNvSpPr/>
          <p:nvPr/>
        </p:nvSpPr>
        <p:spPr>
          <a:xfrm>
            <a:off x="411480" y="3218688"/>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3</a:t>
            </a:r>
          </a:p>
        </p:txBody>
      </p:sp>
      <p:sp>
        <p:nvSpPr>
          <p:cNvPr id="10" name="TextBox 9"/>
          <p:cNvSpPr txBox="1"/>
          <p:nvPr/>
        </p:nvSpPr>
        <p:spPr>
          <a:xfrm>
            <a:off x="1024128" y="3255264"/>
            <a:ext cx="10881360" cy="530352"/>
          </a:xfrm>
          <a:prstGeom prst="rect">
            <a:avLst/>
          </a:prstGeom>
          <a:noFill/>
        </p:spPr>
        <p:txBody>
          <a:bodyPr wrap="square">
            <a:spAutoFit/>
          </a:bodyPr>
          <a:lstStyle/>
          <a:p>
            <a:pPr algn="l">
              <a:defRPr sz="1800" b="0" i="0">
                <a:solidFill>
                  <a:srgbClr val="0F172A"/>
                </a:solidFill>
                <a:latin typeface="Aptos"/>
              </a:defRPr>
            </a:pPr>
            <a:r>
              <a:t>Step 2: Create a site map showing page connections</a:t>
            </a:r>
          </a:p>
        </p:txBody>
      </p:sp>
      <p:sp>
        <p:nvSpPr>
          <p:cNvPr id="11" name="Oval 10"/>
          <p:cNvSpPr/>
          <p:nvPr/>
        </p:nvSpPr>
        <p:spPr>
          <a:xfrm>
            <a:off x="411480" y="4096512"/>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4</a:t>
            </a:r>
          </a:p>
        </p:txBody>
      </p:sp>
      <p:sp>
        <p:nvSpPr>
          <p:cNvPr id="12" name="TextBox 11"/>
          <p:cNvSpPr txBox="1"/>
          <p:nvPr/>
        </p:nvSpPr>
        <p:spPr>
          <a:xfrm>
            <a:off x="1024128" y="4133088"/>
            <a:ext cx="10881360" cy="530352"/>
          </a:xfrm>
          <a:prstGeom prst="rect">
            <a:avLst/>
          </a:prstGeom>
          <a:noFill/>
        </p:spPr>
        <p:txBody>
          <a:bodyPr wrap="square">
            <a:spAutoFit/>
          </a:bodyPr>
          <a:lstStyle/>
          <a:p>
            <a:pPr algn="l">
              <a:defRPr sz="1800" b="0" i="0">
                <a:solidFill>
                  <a:srgbClr val="0F172A"/>
                </a:solidFill>
                <a:latin typeface="Aptos"/>
              </a:defRPr>
            </a:pPr>
            <a:r>
              <a:t>Step 3: Build a website with these pages using a website builder or HTML editor</a:t>
            </a:r>
          </a:p>
        </p:txBody>
      </p:sp>
      <p:sp>
        <p:nvSpPr>
          <p:cNvPr id="13" name="Rounded Rectangle 12"/>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5" name="TextBox 14"/>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working multi-page website with clear navigation that fits your plan and audience.</a:t>
            </a:r>
          </a:p>
        </p:txBody>
      </p:sp>
      <p:sp>
        <p:nvSpPr>
          <p:cNvPr id="16" name="TextBox 15"/>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Includes a homepage plus two relevant pages.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How did your website’s purpose shape your design?</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What was challenging about organizing your content?</a:t>
            </a:r>
          </a:p>
        </p:txBody>
      </p:sp>
      <p:sp>
        <p:nvSpPr>
          <p:cNvPr id="12" name="Rounded Rectangle 11"/>
          <p:cNvSpPr/>
          <p:nvPr/>
        </p:nvSpPr>
        <p:spPr>
          <a:xfrm>
            <a:off x="457200" y="4169664"/>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1480" y="4105656"/>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4105656"/>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325112"/>
            <a:ext cx="10881360" cy="822960"/>
          </a:xfrm>
          <a:prstGeom prst="rect">
            <a:avLst/>
          </a:prstGeom>
          <a:noFill/>
        </p:spPr>
        <p:txBody>
          <a:bodyPr wrap="square">
            <a:spAutoFit/>
          </a:bodyPr>
          <a:lstStyle/>
          <a:p>
            <a:pPr algn="l">
              <a:defRPr sz="2000" b="0" i="0">
                <a:solidFill>
                  <a:srgbClr val="0F172A"/>
                </a:solidFill>
                <a:latin typeface="Aptos"/>
              </a:defRPr>
            </a:pPr>
            <a:r>
              <a:t>What would you improve with more 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All websites should look the same regardless of purpose.</a:t>
            </a:r>
          </a:p>
          <a:p>
            <a:pPr>
              <a:lnSpc>
                <a:spcPct val="125000"/>
              </a:lnSpc>
              <a:spcAft>
                <a:spcPts val="800"/>
              </a:spcAft>
              <a:defRPr sz="1700">
                <a:solidFill>
                  <a:srgbClr val="0F172A"/>
                </a:solidFill>
                <a:latin typeface="Aptos"/>
              </a:defRPr>
            </a:pPr>
            <a:r>
              <a:t>•  More colors and effects always improve usability.</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Provide site map templates for students needing structure support.</a:t>
            </a:r>
          </a:p>
          <a:p>
            <a:pPr>
              <a:lnSpc>
                <a:spcPct val="125000"/>
              </a:lnSpc>
              <a:spcAft>
                <a:spcPts val="800"/>
              </a:spcAft>
              <a:defRPr sz="1700">
                <a:solidFill>
                  <a:srgbClr val="0F172A"/>
                </a:solidFill>
                <a:latin typeface="Aptos"/>
              </a:defRPr>
            </a:pPr>
            <a:r>
              <a:t>•  Encourage advanced students to add multimedia or interactive features.</a:t>
            </a:r>
          </a:p>
          <a:p>
            <a:pPr>
              <a:lnSpc>
                <a:spcPct val="125000"/>
              </a:lnSpc>
              <a:spcAft>
                <a:spcPts val="800"/>
              </a:spcAft>
              <a:defRPr sz="1700">
                <a:solidFill>
                  <a:srgbClr val="0F172A"/>
                </a:solidFill>
                <a:latin typeface="Aptos"/>
              </a:defRPr>
            </a:pPr>
            <a:r>
              <a:t>•  Extension ideas:</a:t>
            </a:r>
          </a:p>
          <a:p>
            <a:pPr>
              <a:lnSpc>
                <a:spcPct val="125000"/>
              </a:lnSpc>
              <a:spcAft>
                <a:spcPts val="800"/>
              </a:spcAft>
              <a:defRPr sz="1700">
                <a:solidFill>
                  <a:srgbClr val="0F172A"/>
                </a:solidFill>
                <a:latin typeface="Aptos"/>
              </a:defRPr>
            </a:pPr>
            <a:r>
              <a:t>•  Have students collect peer feedback and revise their websites accordingly.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