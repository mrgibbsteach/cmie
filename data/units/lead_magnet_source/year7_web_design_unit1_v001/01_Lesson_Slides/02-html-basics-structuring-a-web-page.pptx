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sets the stage for diving deeper into HTML structure. Use it to signal a shift from introduction to focused exploration. Briefly explain that we’re about to investigate how HTML solves the problem of making web pages organised and easy to read. Encourage students to think about what ‘structure’ means in the context of websites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Engage students by asking them to think about a website they like and what makes it easy to navigate or visually clear. Encourage them to discuss with a partner which parts stand out first—maybe the main title, menus, or paragraphs—and what HTML tags might be behind those parts. This not only sparks curiosity but also primes them to connect everyday experience with coding concepts. Watch for students who might confuse visual design with structure—remind them that tags organise content, not style.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key idea about how HTML structures content. After the video, ask what stood out and how it relates to today’s focus on page structure. This keeps them actively processing rather than passively watching. Watch out for students who might miss the link between tags and structure—prompt them to think about how the video showed content being organised behind the scenes.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we’re moving into the core concepts of HTML structure. Use this moment to reset attention and say something like, 'Now that we’ve seen the problem and got curious, let’s learn the key ideas that will help us build structured pages.' It’s a good transition to focus students on the technical details coming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clearly that HTML tags act like labels or containers that tell the browser what type of content it’s looking at—headings, paragraphs, links, etc. Use the example of &lt;h1&gt; as the main title and &lt;p&gt; for paragraphs to illustrate this. Emphasise that these tags don’t show up as text on the page themselves but control how content is organised and presented. A common misconception is that tags appear as part of the page—remind students that they’re invisible instructions to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Walk students through the basic page structure, explaining that &lt;html&gt; wraps the whole page, &lt;head&gt; contains info like the page title (which appears in the browser tab, not on the page), and &lt;body&gt; holds all the visible stuff like headings and paragraphs. Use a simple analogy, like a book: &lt;head&gt; is like the cover page and metadata, and &lt;body&gt; is the actual story inside. Watch for confusion between &lt;head&gt; and &lt;body&gt;—make sure they understand that &lt;head&gt; content isn’t displayed on the page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connect abstract HTML tags to something familiar: news websites. Point out how well-structured tags help users quickly find headlines and articles, and also allow screen readers to interpret content for visually impaired users. Highlight that good HTML structure improves loading speed and navigation, which benefits everyone. Ask students why they think organisation matters on busy sites like news portals to deepen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Announce that it’s time to apply what they’ve learned by creating their own webpage. Emphasise that this hands-on practice will reinforce how tags structure content. Encourage students to recall the tags discussed and use them correctly. Use this moment to energise the class and remind them you’ll be available to help as they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activity by clearly explaining the task: create a simple HTML page about a favourite hobby using the specific tags listed. Stress the importance of correct opening and closing tags and that the page should display properly in a browser. Suggest students save early and preview often to catch errors. Circulate to check for correct tag use, offer help with syntax, and encourage students to explain their choices. Success looks like a working page with a title in the browser tab, a main heading, and paragraph 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section slide to prepare students to reflect on what they’ve done and learned. Encourage them to think about how the tags they used affected the page’s structure and appearance. This pause helps consolidate learning before moving to the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Facilitate a class discussion or small group chat around these reflection questions. Prompt students to explain why using correct HTML tags matters—think about clarity for browsers and users. Also explore how HTML structure supports accessibility and navigation. Challenge students to give examples from their own pages or websites they know. This retrieval practice will help identify any lingering misunderstandings.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the key misconceptions to watch for during the lesson, such as students thinking tags appear as text or confusing the &lt;head&gt; with &lt;body&gt;. Suggest giving a starter template to those who struggle with syntax to keep them engaged. For advanced learners, encourage adding extra headings or links to deepen their understanding. Extensions like explaining the &lt;title&gt; tag’s role in browser tabs and showing how missing closing tags break the page structure are great ways to stretch students ready for more challenge.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02</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HTML Basics: Structuring a Web Page</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02</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and use key HTML tags to build page structure.</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the role of each HTML tag used.</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Create a simple, correctly structured web page.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does HTML structure content on a web page?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Think about your favorite website</a:t>
            </a:r>
            <a:br/>
            <a:br/>
            <a:r>
              <a:t>What makes it look organized? Discuss with a partner which parts you notice first and what tags might create that structure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HTML Tags &amp; Elements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HTML tags label parts of a page</a:t>
            </a:r>
          </a:p>
          <a:p>
            <a:pPr>
              <a:lnSpc>
                <a:spcPct val="125000"/>
              </a:lnSpc>
              <a:spcAft>
                <a:spcPts val="1200"/>
              </a:spcAft>
              <a:defRPr sz="2000">
                <a:solidFill>
                  <a:srgbClr val="0F172A"/>
                </a:solidFill>
                <a:latin typeface="Aptos"/>
              </a:defRPr>
            </a:pPr>
            <a:r>
              <a:t>•  For example, &lt;h1&gt; adds a main title, and &lt;p&gt; creates paragraphs</a:t>
            </a:r>
          </a:p>
          <a:p>
            <a:pPr>
              <a:lnSpc>
                <a:spcPct val="125000"/>
              </a:lnSpc>
              <a:spcAft>
                <a:spcPts val="1200"/>
              </a:spcAft>
              <a:defRPr sz="2000">
                <a:solidFill>
                  <a:srgbClr val="0F172A"/>
                </a:solidFill>
                <a:latin typeface="Aptos"/>
              </a:defRPr>
            </a:pPr>
            <a:r>
              <a:t>•  These tags control structure but don’t appear as text on the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Basic Page Structure</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page starts with &lt;html&gt;</a:t>
            </a:r>
          </a:p>
          <a:p>
            <a:pPr>
              <a:lnSpc>
                <a:spcPct val="125000"/>
              </a:lnSpc>
              <a:spcAft>
                <a:spcPts val="1200"/>
              </a:spcAft>
              <a:defRPr sz="2000">
                <a:solidFill>
                  <a:srgbClr val="0F172A"/>
                </a:solidFill>
                <a:latin typeface="Aptos"/>
              </a:defRPr>
            </a:pPr>
            <a:r>
              <a:t>•  Inside, &lt;head&gt; holds info like the page title, shown in the browser tab</a:t>
            </a:r>
          </a:p>
          <a:p>
            <a:pPr>
              <a:lnSpc>
                <a:spcPct val="125000"/>
              </a:lnSpc>
              <a:spcAft>
                <a:spcPts val="1200"/>
              </a:spcAft>
              <a:defRPr sz="2000">
                <a:solidFill>
                  <a:srgbClr val="0F172A"/>
                </a:solidFill>
                <a:latin typeface="Aptos"/>
              </a:defRPr>
            </a:pPr>
            <a:r>
              <a:t>•  &lt;body&gt; contains all visible content, like headings and paragraphs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How News Sites Use HTML</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News sites use tags to organize headlines, articles, and images</a:t>
            </a:r>
          </a:p>
          <a:p>
            <a:pPr>
              <a:lnSpc>
                <a:spcPct val="125000"/>
              </a:lnSpc>
              <a:spcAft>
                <a:spcPts val="1200"/>
              </a:spcAft>
              <a:defRPr sz="2000">
                <a:solidFill>
                  <a:srgbClr val="0F172A"/>
                </a:solidFill>
                <a:latin typeface="Aptos"/>
              </a:defRPr>
            </a:pPr>
            <a:r>
              <a:t>→  This structure helps readers find info fast, improves loading speed, and supports screen readers</a:t>
            </a:r>
          </a:p>
          <a:p>
            <a:pPr>
              <a:lnSpc>
                <a:spcPct val="125000"/>
              </a:lnSpc>
              <a:spcAft>
                <a:spcPts val="1200"/>
              </a:spcAft>
              <a:defRPr sz="2000">
                <a:solidFill>
                  <a:srgbClr val="0F172A"/>
                </a:solidFill>
                <a:latin typeface="Aptos"/>
              </a:defRPr>
            </a:pPr>
            <a:r>
              <a:t>→  HTML structure speeds up websites.</a:t>
            </a:r>
          </a:p>
          <a:p>
            <a:pPr>
              <a:lnSpc>
                <a:spcPct val="125000"/>
              </a:lnSpc>
              <a:spcAft>
                <a:spcPts val="1200"/>
              </a:spcAft>
              <a:defRPr sz="2000">
                <a:solidFill>
                  <a:srgbClr val="0F172A"/>
                </a:solidFill>
                <a:latin typeface="Aptos"/>
              </a:defRPr>
            </a:pPr>
            <a:r>
              <a:t>→  Proper tags make content accessible.</a:t>
            </a:r>
          </a:p>
          <a:p>
            <a:pPr>
              <a:lnSpc>
                <a:spcPct val="125000"/>
              </a:lnSpc>
              <a:spcAft>
                <a:spcPts val="1200"/>
              </a:spcAft>
              <a:defRPr sz="2000">
                <a:solidFill>
                  <a:srgbClr val="0F172A"/>
                </a:solidFill>
                <a:latin typeface="Aptos"/>
              </a:defRPr>
            </a:pPr>
            <a:r>
              <a:t>→  Organized tags improve navigation.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Build Your First Web Page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Create an HTML page about your favorite hobby</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Include these tags: &lt;html&gt;, &lt;head&gt;, &lt;title&gt;, &lt;body&gt;, &lt;h1&gt;, and &lt;p&gt;</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Save and open your file in a browser to check it works</a:t>
            </a:r>
          </a:p>
        </p:txBody>
      </p:sp>
      <p:sp>
        <p:nvSpPr>
          <p:cNvPr id="11" name="Rounded Rectangle 10"/>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3" name="TextBox 12"/>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saved HTML file showing a titled page with a heading and paragraph about your hobby.</a:t>
            </a:r>
          </a:p>
        </p:txBody>
      </p:sp>
      <p:sp>
        <p:nvSpPr>
          <p:cNvPr id="14" name="TextBox 13"/>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Correct opening and closing tags for &lt;html&gt;, &lt;head&gt;, &lt;title&gt;, and &lt;body&gt;.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Why use correct HTML tags when building a page?</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does HTML structure help users and browsers?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Thinking HTML tags show as text instead of controlling layout.</a:t>
            </a:r>
          </a:p>
          <a:p>
            <a:pPr>
              <a:lnSpc>
                <a:spcPct val="125000"/>
              </a:lnSpc>
              <a:spcAft>
                <a:spcPts val="800"/>
              </a:spcAft>
              <a:defRPr sz="1700">
                <a:solidFill>
                  <a:srgbClr val="0F172A"/>
                </a:solidFill>
                <a:latin typeface="Aptos"/>
              </a:defRPr>
            </a:pPr>
            <a:r>
              <a:t>•  Confusing &lt;head&gt; (metadata) with &lt;body&gt; (visible content).</a:t>
            </a:r>
          </a:p>
          <a:p>
            <a:pPr>
              <a:lnSpc>
                <a:spcPct val="125000"/>
              </a:lnSpc>
              <a:spcAft>
                <a:spcPts val="800"/>
              </a:spcAft>
              <a:defRPr sz="1700">
                <a:solidFill>
                  <a:srgbClr val="0F172A"/>
                </a:solidFill>
                <a:latin typeface="Aptos"/>
              </a:defRPr>
            </a:pPr>
            <a:r>
              <a:t>•  Believing HTML structure is optional or tags can be unordered.</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a starter HTML template to students needing support.</a:t>
            </a:r>
          </a:p>
          <a:p>
            <a:pPr>
              <a:lnSpc>
                <a:spcPct val="125000"/>
              </a:lnSpc>
              <a:spcAft>
                <a:spcPts val="800"/>
              </a:spcAft>
              <a:defRPr sz="1700">
                <a:solidFill>
                  <a:srgbClr val="0F172A"/>
                </a:solidFill>
                <a:latin typeface="Aptos"/>
              </a:defRPr>
            </a:pPr>
            <a:r>
              <a:t>•  Challenge advanced students to add a second heading or a link with &lt;a&gt; tags.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