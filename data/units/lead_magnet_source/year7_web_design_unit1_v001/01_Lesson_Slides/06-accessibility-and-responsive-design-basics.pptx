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marks the start of our exploration into accessibility and responsive design. Tell students we're shifting from theory to investigating real problems web designers face. Emphasise the importance of understanding these issues before jumping into solutions. Use this as a moment to build curiosity about how websites can be made better for everyone. Let students know we’ll be looking closely at challenges and practical fixes.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Use this scenario to spark empathy and get students thinking about real-world impacts. Ask them to imagine how frustrating it would be if their friends couldn’t enjoy their website because of small text or confusing colours. Highlight that accessibility and responsive design aren’t just technical terms but solve real problems for real users. You might ask: 'What would you change on your site to help those friends?' Watch for students assuming accessibility is only for people with disabilities.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watch carefully for one key idea about accessibility or responsive design. After viewing, prompt them to share what stood out and how it connects to today’s lesson question about usability for all devices and users. Keep an eye out for students who focus only on one aspect, like just responsive design, and gently guide them to see the bigger picture.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the core concepts we need to understand. Let students know we’ll break down accessibility and responsive design into manageable ideas. Emphasise that mastering these will help them build websites that work well for everyone. Transition by saying we’ll start with what accessibility really means, then move into responsive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accessibility as designing for everyone, including people with disabilities, but also those with temporary or situational challenges. Use the alt text example clearly: it’s like a description that a screen reader can ‘read aloud’ to someone who can’t see the image. Highlight keyboard navigation as an often-overlooked feature. Watch out for students confusing accessibility with just visual adjustments – remind them it includes hearing and interaction too.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This is a great chance to bust a common myth. Stress that accessibility helps all users, not just those with permanent disabilities. Give relatable examples like bright sunlight making screens hard to see or slow internet where images might not load. This broadens their understanding and shows accessibility is about better design overall. Ask: 'Can you think of a time when you or someone you know benefited from accessible design without realising?'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that responsive design means the website changes its layout and size depending on the device, not just shrinking everything. Use the menu example to show how the same content adapts for easier use on phones versus desktops. Encourage students to think about how they use websites on different devices themselves. Keep an eye out for any thinking that responsive design is just making things smaller, which we’ll address next.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Here you’ll correct the misconception that responsive means simply shrinking content. Emphasise that it’s about rearranging elements so the site stays easy to use and read, no matter the screen size. You might compare it to rearranging furniture in a small room versus a big one rather than just squeezing everything in. Ask students how they’ve seen websites change on phones versus computers to reinforce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Wikipedia as a familiar, real-world example to make the abstract ideas concrete. Walk through how alt text helps screen readers and how layout changes improve usability on different devices. Emphasise the scale — millions rely on these features daily. Encourage students to think about how these features improve their own experience with Wikipedia or other sites. This helps connect theory back to everyday life.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moving from learning to doing. Prepare students to apply what they’ve learned about accessibility and responsive design to their own websites. Remind them this hands-on time is a chance to test and improve their work, making it usable for more people. Encourage them to be thoughtful and check carefully on different devices or screen sizes.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Introduce the activity clearly and walk through each step. Stress the importance of descriptive alt text and clear headings for accessibility, and testing layout changes for responsiveness. Suggest practical ways to resize browsers or use phones to check their work. Remind them success means their site works well on both phone and desktop views with easy-to-read text and images properly described. Circulate actively, helping with alt text wording and layout tweaks, and prompting students to think like users with different needs.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sets up reflection time, so encourage students to think back on what they’ve just done and learned. Explain that reflecting helps deepen understanding and prepares them for future design challenges. Transition smoothly by saying we’ll discuss what was easy, what was tricky, and why these skills matter.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Guide a class discussion using these questions to check understanding and encourage sharing. Start with what they found easiest and hardest to personalise learning. Then explore how responsive design improves usability to reinforce its value. Finally, discuss problems caused by ignoring accessibility or responsiveness to highlight consequences. Watch for students who might underestimate these problems and gently push them to consider real user experiences.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Use this slide as a quick reference for common misconceptions to watch for during the lesson. Highlight the importance of addressing these gently to keep students motivated. Suggest differentiation strategies: offer extra support with commented code for those who struggle, and challenge more confident students to test sites on multiple devices or explore developer tools. For extension, encourage students to research advanced accessibility features like ARIA roles or present on sites known for great accessibility, deepening their expertise.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06</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Accessibility &amp; Responsive Design</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Websites &amp; Web Design: Unit 1 – Building Your First Website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06</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Define accessibility in web design and its importance.</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Explain how responsive design adapts websites to different screens.</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Apply basic accessibility and responsive design to a webpage.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can we design websites easy to use for all and look great on any device?</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build a website about your hobby, but some friends struggle to read small text or see confusing colors, and others find it hard to use on their phones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Accessibility?</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Accessibility means designing websites everyone can use, including people with vision or hearing challenges</a:t>
            </a:r>
          </a:p>
          <a:p>
            <a:pPr>
              <a:lnSpc>
                <a:spcPct val="125000"/>
              </a:lnSpc>
              <a:spcAft>
                <a:spcPts val="1200"/>
              </a:spcAft>
              <a:defRPr sz="2000">
                <a:solidFill>
                  <a:srgbClr val="0F172A"/>
                </a:solidFill>
                <a:latin typeface="Aptos"/>
              </a:defRPr>
            </a:pPr>
            <a:r>
              <a:t>•  For example, adding alt text to images helps screen readers describe pictures</a:t>
            </a:r>
          </a:p>
          <a:p>
            <a:pPr>
              <a:lnSpc>
                <a:spcPct val="125000"/>
              </a:lnSpc>
              <a:spcAft>
                <a:spcPts val="1200"/>
              </a:spcAft>
              <a:defRPr sz="2000">
                <a:solidFill>
                  <a:srgbClr val="0F172A"/>
                </a:solidFill>
                <a:latin typeface="Aptos"/>
              </a:defRPr>
            </a:pPr>
            <a:r>
              <a:t>•  Clear text and keyboard navigation also make content easy to access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Accessibility Myth</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Many think accessibility only helps people with disabilities</a:t>
            </a:r>
          </a:p>
          <a:p>
            <a:pPr>
              <a:lnSpc>
                <a:spcPct val="125000"/>
              </a:lnSpc>
              <a:spcAft>
                <a:spcPts val="1200"/>
              </a:spcAft>
              <a:defRPr sz="2000">
                <a:solidFill>
                  <a:srgbClr val="0F172A"/>
                </a:solidFill>
                <a:latin typeface="Aptos"/>
              </a:defRPr>
            </a:pPr>
            <a:r>
              <a:t>•  In reality, it benefits all users, like those with slow internet or bright sunlight on screens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Responsive Design?</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Responsive design adjusts a website’s layout and size to fit devices like phones, tablets, or desktops</a:t>
            </a:r>
          </a:p>
          <a:p>
            <a:pPr>
              <a:lnSpc>
                <a:spcPct val="125000"/>
              </a:lnSpc>
              <a:spcAft>
                <a:spcPts val="1200"/>
              </a:spcAft>
              <a:defRPr sz="2000">
                <a:solidFill>
                  <a:srgbClr val="0F172A"/>
                </a:solidFill>
                <a:latin typeface="Aptos"/>
              </a:defRPr>
            </a:pPr>
            <a:r>
              <a:t>•  For example, a menu changes to a dropdown on phones but shows all options on desktops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Responsive Design Myth</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Responsive design isn’t just shrinking content on small screens; it rearranges elements to keep the site easy to use on any device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Wikipedia’s Accessibility &amp; Responsiveness</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Wikipedia adds alt text to images and automatically adjusts page layout for phones and tablets.</a:t>
            </a:r>
          </a:p>
          <a:p>
            <a:pPr>
              <a:lnSpc>
                <a:spcPct val="125000"/>
              </a:lnSpc>
              <a:spcAft>
                <a:spcPts val="1200"/>
              </a:spcAft>
              <a:defRPr sz="2000">
                <a:solidFill>
                  <a:srgbClr val="0F172A"/>
                </a:solidFill>
                <a:latin typeface="Aptos"/>
              </a:defRPr>
            </a:pPr>
            <a:r>
              <a:t>→  Alt text lets screen readers describe images.</a:t>
            </a:r>
          </a:p>
          <a:p>
            <a:pPr>
              <a:lnSpc>
                <a:spcPct val="125000"/>
              </a:lnSpc>
              <a:spcAft>
                <a:spcPts val="1200"/>
              </a:spcAft>
              <a:defRPr sz="2000">
                <a:solidFill>
                  <a:srgbClr val="0F172A"/>
                </a:solidFill>
                <a:latin typeface="Aptos"/>
              </a:defRPr>
            </a:pPr>
            <a:r>
              <a:t>→  Layout changes make reading easy on any device.</a:t>
            </a:r>
          </a:p>
          <a:p>
            <a:pPr>
              <a:lnSpc>
                <a:spcPct val="125000"/>
              </a:lnSpc>
              <a:spcAft>
                <a:spcPts val="1200"/>
              </a:spcAft>
              <a:defRPr sz="2000">
                <a:solidFill>
                  <a:srgbClr val="0F172A"/>
                </a:solidFill>
                <a:latin typeface="Aptos"/>
              </a:defRPr>
            </a:pPr>
            <a:r>
              <a:t>→  Millions access info smoothly, regardless of device or 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Enhance Your Website</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Step 1: Add two accessibility features like alt text for images and clear headings</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Step 2: Adjust your layout to work on phones and desktops by testing with browser resizing or devices</a:t>
            </a:r>
          </a:p>
        </p:txBody>
      </p:sp>
      <p:sp>
        <p:nvSpPr>
          <p:cNvPr id="9" name="Oval 8"/>
          <p:cNvSpPr/>
          <p:nvPr/>
        </p:nvSpPr>
        <p:spPr>
          <a:xfrm>
            <a:off x="411480" y="3218688"/>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3</a:t>
            </a:r>
          </a:p>
        </p:txBody>
      </p:sp>
      <p:sp>
        <p:nvSpPr>
          <p:cNvPr id="10" name="TextBox 9"/>
          <p:cNvSpPr txBox="1"/>
          <p:nvPr/>
        </p:nvSpPr>
        <p:spPr>
          <a:xfrm>
            <a:off x="1024128" y="3255264"/>
            <a:ext cx="10881360" cy="530352"/>
          </a:xfrm>
          <a:prstGeom prst="rect">
            <a:avLst/>
          </a:prstGeom>
          <a:noFill/>
        </p:spPr>
        <p:txBody>
          <a:bodyPr wrap="square">
            <a:spAutoFit/>
          </a:bodyPr>
          <a:lstStyle/>
          <a:p>
            <a:pPr algn="l">
              <a:defRPr sz="1800" b="0" i="0">
                <a:solidFill>
                  <a:srgbClr val="0F172A"/>
                </a:solidFill>
                <a:latin typeface="Aptos"/>
              </a:defRPr>
            </a:pPr>
            <a:r>
              <a:t>Step 3: Share your updated webpage with a screenshot showing both views</a:t>
            </a:r>
          </a:p>
        </p:txBody>
      </p:sp>
      <p:sp>
        <p:nvSpPr>
          <p:cNvPr id="11" name="Rounded Rectangle 10"/>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3" name="TextBox 12"/>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webpage with descriptive alt text, readable text with good contrast, and a layout that adapts to different screen sizes</a:t>
            </a:r>
          </a:p>
        </p:txBody>
      </p:sp>
      <p:sp>
        <p:nvSpPr>
          <p:cNvPr id="14" name="TextBox 13"/>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Images have descriptive alt text.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What was easiest and hardest about adding accessibility features?</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does responsive design improve website use?</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What problems arise if accessibility or responsiveness are ignored?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Accessibility only helps people with disabilities.</a:t>
            </a:r>
          </a:p>
          <a:p>
            <a:pPr>
              <a:lnSpc>
                <a:spcPct val="125000"/>
              </a:lnSpc>
              <a:spcAft>
                <a:spcPts val="800"/>
              </a:spcAft>
              <a:defRPr sz="1700">
                <a:solidFill>
                  <a:srgbClr val="0F172A"/>
                </a:solidFill>
                <a:latin typeface="Aptos"/>
              </a:defRPr>
            </a:pPr>
            <a:r>
              <a:t>•  Responsive design means just shrinking content on small screens.</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Provide commented code snippets for extra support.</a:t>
            </a:r>
          </a:p>
          <a:p>
            <a:pPr>
              <a:lnSpc>
                <a:spcPct val="125000"/>
              </a:lnSpc>
              <a:spcAft>
                <a:spcPts val="800"/>
              </a:spcAft>
              <a:defRPr sz="1700">
                <a:solidFill>
                  <a:srgbClr val="0F172A"/>
                </a:solidFill>
                <a:latin typeface="Aptos"/>
              </a:defRPr>
            </a:pPr>
            <a:r>
              <a:t>•  Challenge advanced students to test sites on multiple devices or use developer tools.</a:t>
            </a:r>
          </a:p>
          <a:p>
            <a:pPr>
              <a:lnSpc>
                <a:spcPct val="125000"/>
              </a:lnSpc>
              <a:spcAft>
                <a:spcPts val="800"/>
              </a:spcAft>
              <a:defRPr sz="1700">
                <a:solidFill>
                  <a:srgbClr val="0F172A"/>
                </a:solidFill>
                <a:latin typeface="Aptos"/>
              </a:defRPr>
            </a:pPr>
            <a:r>
              <a:t>•  Extension ideas:</a:t>
            </a:r>
          </a:p>
          <a:p>
            <a:pPr>
              <a:lnSpc>
                <a:spcPct val="125000"/>
              </a:lnSpc>
              <a:spcAft>
                <a:spcPts val="800"/>
              </a:spcAft>
              <a:defRPr sz="1700">
                <a:solidFill>
                  <a:srgbClr val="0F172A"/>
                </a:solidFill>
                <a:latin typeface="Aptos"/>
              </a:defRPr>
            </a:pPr>
            <a:r>
              <a:t>•  Explore ARIA roles and landmarks to boost accessibility.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