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kicking off this phase by framing the problem we'll solve today—how to position elements on a webpage effectively. Highlight to students that this section is about exploring the challenges designers face when layout goes wrong. Emphasise that understanding this sets the stage for practical skills to come. Transition by inviting them to think about what makes a website easy or hard to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by engaging students with a relatable scenario—designing a school club homepage where text and images overlap. Encourage pairs to discuss what layout problems they notice and to propose one clear fix. This gets them thinking critically and collaboratively. Listen for ideas about spacing, alignment, or layering. If they struggle, prompt them to consider what makes text readable or images clear. This sets a practical context for the lesson.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focus on identifying one key idea and how it ties into positioning and structure. After watching, ask them to share what stood out—was it about how elements stack, or how positioning affects usability? Use their responses to link directly to today's essential question. This keeps the video purposeful and primes them for deeper learning.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that we're moving into the core concepts. Briefly explain that we'll unpack important ideas about how elements behave on a page and how CSS positioning works. Prepare students to focus and take notes because these foundations will help them avoid common layout mistakes. Transition smoothly by saying we’ll start with understanding block and inline elements.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block elements as those that take up full width and start on a new line, like paragraphs, making it easier to stack content vertically. Inline elements sit within a line, like links, allowing text and images to flow side by side. Use the analogy of blocks stacking like bricks versus inline elements lining up like beads on a string. Watch for students mixing these up, which can cause unexpected layouts. Ask, "What might happen if you put a block element inside an inline element?" to check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Introduce CSS positioning by describing the four main types: static (default), relative (shifts an element without affecting others), absolute (positions relative to nearest positioned ancestor), and fixed (stays put on screen during scrolling). Use a simple example like moving a heading slightly with relative positioning to show subtle control. Warn students that overusing absolute positioning can cause overlaps or hidden content if not managed carefully. Prompt them to consider when each type might be best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the news website example to connect theory to a familiar real-world site. Point out how headlines, images, and articles are clearly separated, making it easy for readers to scan and find information. Discuss how proper element positioning helps highlight important content and improves overall user experience. Ask students to think about a website they use often—how does its layout help or hinder them? This helps them see the practical value of today's concepts.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now moving into hands-on practice. Emphasise that this section is about applying what they've learned about block vs inline elements and CSS positioning to build a clear homepage. Encourage students to plan their layout before coding, thinking about how each part fits together. Remind them to keep usability in mind—clarity and ease of navigation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clarifying the task: create a school club homepage using the starter template, correctly applying block and inline elements, and CSS positioning to arrange header, navigation, content, and footer distinctly. Define success as a well-organised, readable page with no overlapping elements. Circulate to check for correct use of block vs inline tags and effective positioning styles. Support students who confuse these concepts and challenge advanced ones to experiment with positioning nuances for balance.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time to pause and reflect on what’s been learned. Encourage students to think about their own designs and how their understanding of layout and positioning has improved. Prepare them to share insights or questions. Frame this as important for consolidating skills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reflection questions to prompt thoughtful discussion or individual writing. Ask students what the hardest part was about positioning elements to uncover common struggles, such as overlapping or unexpected behaviour. Then explore how good page structure helps users, reinforcing the link between design choices and usability. This is a great chance to check understanding and correct misconceptions before finishing.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key misconceptions to watch for: students often mix block and inline elements without grasping layout effects, or overuse absolute positioning causing messy overlaps. Stress that CSS positioning alone isn’t enough without understanding element types. Suggest showing visuals or code snippets to support learners needing extra help. For extension, encourage advanced students to try fixed headers or introduce Flexbox/Grid for more complex layouts. Also suggest redesigning pages for mobile to deepen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05</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Page Layout: Position &amp; Structure</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05</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Describe block vs inline elements in layouts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Use CSS positioning to arrange webpage content</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Spot and fix common layout mistakes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does element positioning affect a website’s look and usability?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You’re designing a school club homepage, but text and images overlap and are hard to read</a:t>
            </a:r>
            <a:br/>
            <a:br/>
            <a:r>
              <a:t>With a partner, identify layout problems and suggest one clear fix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Block vs Inline Elements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Block elements take full width and start on a new line, like a paragraph (&lt;p&gt;)</a:t>
            </a:r>
          </a:p>
          <a:p>
            <a:pPr>
              <a:lnSpc>
                <a:spcPct val="125000"/>
              </a:lnSpc>
              <a:spcAft>
                <a:spcPts val="1200"/>
              </a:spcAft>
              <a:defRPr sz="2000">
                <a:solidFill>
                  <a:srgbClr val="0F172A"/>
                </a:solidFill>
                <a:latin typeface="Aptos"/>
              </a:defRPr>
            </a:pPr>
            <a:r>
              <a:t>•  Inline elements sit side-by-side within a line, such as a link (&lt;a&gt;)</a:t>
            </a:r>
          </a:p>
          <a:p>
            <a:pPr>
              <a:lnSpc>
                <a:spcPct val="125000"/>
              </a:lnSpc>
              <a:spcAft>
                <a:spcPts val="1200"/>
              </a:spcAft>
              <a:defRPr sz="2000">
                <a:solidFill>
                  <a:srgbClr val="0F172A"/>
                </a:solidFill>
                <a:latin typeface="Aptos"/>
              </a:defRPr>
            </a:pPr>
            <a:r>
              <a:t>•  Knowing this helps you arrange content without layout issues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CSS Positioning Basics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CSS positioning sets where elements appear using static, relative, absolute, or fixed</a:t>
            </a:r>
          </a:p>
          <a:p>
            <a:pPr>
              <a:lnSpc>
                <a:spcPct val="125000"/>
              </a:lnSpc>
              <a:spcAft>
                <a:spcPts val="1200"/>
              </a:spcAft>
              <a:defRPr sz="2000">
                <a:solidFill>
                  <a:srgbClr val="0F172A"/>
                </a:solidFill>
                <a:latin typeface="Aptos"/>
              </a:defRPr>
            </a:pPr>
            <a:r>
              <a:t>•  For example, 'position: relative;' shifts a heading slightly without moving others</a:t>
            </a:r>
          </a:p>
          <a:p>
            <a:pPr>
              <a:lnSpc>
                <a:spcPct val="125000"/>
              </a:lnSpc>
              <a:spcAft>
                <a:spcPts val="1200"/>
              </a:spcAft>
              <a:defRPr sz="2000">
                <a:solidFill>
                  <a:srgbClr val="0F172A"/>
                </a:solidFill>
                <a:latin typeface="Aptos"/>
              </a:defRPr>
            </a:pPr>
            <a:r>
              <a:t>•  Use absolute positioning carefully to avoid overlaps or hidden content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News Website Layout</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News sites separate headlines, images, and articles clearly so readers find stories quickly.</a:t>
            </a:r>
          </a:p>
          <a:p>
            <a:pPr>
              <a:lnSpc>
                <a:spcPct val="125000"/>
              </a:lnSpc>
              <a:spcAft>
                <a:spcPts val="1200"/>
              </a:spcAft>
              <a:defRPr sz="2000">
                <a:solidFill>
                  <a:srgbClr val="0F172A"/>
                </a:solidFill>
                <a:latin typeface="Aptos"/>
              </a:defRPr>
            </a:pPr>
            <a:r>
              <a:t>→  Clear layout guides readers</a:t>
            </a:r>
          </a:p>
          <a:p>
            <a:pPr>
              <a:lnSpc>
                <a:spcPct val="125000"/>
              </a:lnSpc>
              <a:spcAft>
                <a:spcPts val="1200"/>
              </a:spcAft>
              <a:defRPr sz="2000">
                <a:solidFill>
                  <a:srgbClr val="0F172A"/>
                </a:solidFill>
                <a:latin typeface="Aptos"/>
              </a:defRPr>
            </a:pPr>
            <a:r>
              <a:t>→  Proper positioning highlights key content</a:t>
            </a:r>
          </a:p>
          <a:p>
            <a:pPr>
              <a:lnSpc>
                <a:spcPct val="125000"/>
              </a:lnSpc>
              <a:spcAft>
                <a:spcPts val="1200"/>
              </a:spcAft>
              <a:defRPr sz="2000">
                <a:solidFill>
                  <a:srgbClr val="0F172A"/>
                </a:solidFill>
                <a:latin typeface="Aptos"/>
              </a:defRPr>
            </a:pPr>
            <a:r>
              <a:t>→  Good structure improves user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Build a Clear Homepage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Using a starter template, create a school club homepage with distinct header, navigation, content, and footer sections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Apply block and inline elements correctly and use CSS positioning to organize the page</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clean, easy-to-read webpage with well-arranged sections.</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Correct use of block and inline elements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was the hardest part about positioning elements?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does good page structure help website users?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Mixing block and inline elements without understanding layout effects</a:t>
            </a:r>
          </a:p>
          <a:p>
            <a:pPr>
              <a:lnSpc>
                <a:spcPct val="125000"/>
              </a:lnSpc>
              <a:spcAft>
                <a:spcPts val="800"/>
              </a:spcAft>
              <a:defRPr sz="1700">
                <a:solidFill>
                  <a:srgbClr val="0F172A"/>
                </a:solidFill>
                <a:latin typeface="Aptos"/>
              </a:defRPr>
            </a:pPr>
            <a:r>
              <a:t>•  Overusing absolute positioning causing overlaps or hidden items</a:t>
            </a:r>
          </a:p>
          <a:p>
            <a:pPr>
              <a:lnSpc>
                <a:spcPct val="125000"/>
              </a:lnSpc>
              <a:spcAft>
                <a:spcPts val="800"/>
              </a:spcAft>
              <a:defRPr sz="1700">
                <a:solidFill>
                  <a:srgbClr val="0F172A"/>
                </a:solidFill>
                <a:latin typeface="Aptos"/>
              </a:defRPr>
            </a:pPr>
            <a:r>
              <a:t>•  Assuming CSS positioning alone solves layout without element knowledge</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Show visuals comparing block and inline elements</a:t>
            </a:r>
          </a:p>
          <a:p>
            <a:pPr>
              <a:lnSpc>
                <a:spcPct val="125000"/>
              </a:lnSpc>
              <a:spcAft>
                <a:spcPts val="800"/>
              </a:spcAft>
              <a:defRPr sz="1700">
                <a:solidFill>
                  <a:srgbClr val="0F172A"/>
                </a:solidFill>
                <a:latin typeface="Aptos"/>
              </a:defRPr>
            </a:pPr>
            <a:r>
              <a:t>•  Provide example code snippets for extra support</a:t>
            </a:r>
          </a:p>
          <a:p>
            <a:pPr>
              <a:lnSpc>
                <a:spcPct val="125000"/>
              </a:lnSpc>
              <a:spcAft>
                <a:spcPts val="800"/>
              </a:spcAft>
              <a:defRPr sz="1700">
                <a:solidFill>
                  <a:srgbClr val="0F172A"/>
                </a:solidFill>
                <a:latin typeface="Aptos"/>
              </a:defRPr>
            </a:pPr>
            <a:r>
              <a:t>•  Challenge advanced students to add fixed headers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