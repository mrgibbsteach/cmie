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marks the start of our exploration into how websites actually load. Use this moment to set the tone: we’re not just memorising facts, but investigating a real-world process. Encourage students to think about what they already know or wonder about when they type a web address. Transition by explaining that we’ll break down the journey of a website from typing a URL to seeing the page on the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Kick off with this question to spark curiosity and get students thinking about something they do every day but rarely stop to consider. After asking what happens next, prompt a few quick guesses or ideas. Some might say 'the website appears'—encourage them to dig deeper. You can guide them to think about what’s happening behind the scenes. This helps set up the lesson’s goal: to uncover the invisible work browsers and servers 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ask students to listen for one key idea that relates to how websites load. After the video, pause to check understanding and connect the key idea back to today’s essential question. Watch for students focusing on the process of requests and responses, and clarify anything confusing. You might highlight how the video simplifies complex steps, and that you’ll unpack these further in class.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introduces the main concepts we’ll cover. Use it as a signpost to prepare students for focused learning. Briefly outline that they’ll learn about the roles of browsers, servers, and requests — the core players in website loading. Emphasise that understanding these basics will help them see the internet as a system, not just magic.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that browsers are like the windows through which we view the web, but they don’t keep the websites stored inside. Use the analogy of a library: the browser is the visitor asking the librarian (server) for a specific book (website files) each time. Highlight that browsers send a request every time, which is why you need internet connection to load a site. Some students might think browsers save websites permanently—make sure to correct this.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Clarify that servers are the homes where websites live, storing all the files needed to build a page. Compare servers to a shop: they only give out goods (website files) when asked by a customer (browser). Emphasise servers don’t send data on their own; they respond to requests. Students sometimes imagine servers pushing data randomly, so reinforce the request-response model 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Use this real-world example to connect abstract concepts to something familiar—streaming video. Help students understand that when watching a video online, their browser is constantly asking the server for data chunks. Explain buffering as a delay caused by slow internet or busy servers, linking it back to how data flows between browser and server. This helps them see why understanding requests and servers matters outside just reading websites.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signals it’s time for students to apply what they’ve learned. Emphasise the importance of translating their understanding into a clear visual flow diagram. Encourage them to think carefully about the order and direction of communication between browser and server. Prepare them to use simple labels and arrows to make the process clear.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Introduce the activity by explaining the goal: to create a flow diagram that clearly shows how a browser sends a request, how the server responds, and how the browser then displays the website. Remind students to include all key elements and use arrows to show direction. Circulate to check diagrams for accuracy and clarity, prompting students to think about communication steps if they get stuck. Success looks like a neat, labelled diagram showing the cycle of request and response.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Use this slide to transition into reflection. Invite students to quietly think back over what they’ve learned and prepare to share insights. Emphasise that reflecting helps deepen understanding and reveals any lingering questions. You can prompt students to pair-share briefly before moving to the next slide’s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Lead a class discussion using these reflection questions to check for understanding and encourage personal connections. Ask students what surprised them—this can reveal misconceptions or new insights. Then explore how knowing about browsers and servers changes their view of the internet, helping to solidify the big picture. Listen for responses that show comprehension or confusion and clarify as needed.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This slide is your teaching safety net. Watch out for common misconceptions like students thinking browsers store websites or servers send data without being asked. Use sentence starters and visuals to scaffold explanations for those who struggle. For advanced learners, suggest extensions like investigating HTTPS or server errors to deepen their understanding. Keep these ideas handy to tailor support and enrichment during the lesson.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01</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How the Web Works</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Websites &amp; Web Design: Unit 1 – Building Your First Website</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01</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Identify the roles of browsers, servers, and requests in loading websites.</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Explain the process behind visiting a webpage.</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Correct common myths about how the web 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do browsers, servers, and requests work together to load websites?</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You type www.example.com and press enter. What happens next?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Web Browsers: Your Window</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 web browser is a program like Chrome or Firefox that finds and shows websites</a:t>
            </a:r>
          </a:p>
          <a:p>
            <a:pPr>
              <a:lnSpc>
                <a:spcPct val="125000"/>
              </a:lnSpc>
              <a:spcAft>
                <a:spcPts val="1200"/>
              </a:spcAft>
              <a:defRPr sz="2000">
                <a:solidFill>
                  <a:srgbClr val="0F172A"/>
                </a:solidFill>
                <a:latin typeface="Aptos"/>
              </a:defRPr>
            </a:pPr>
            <a:r>
              <a:t>•  When you enter a web address, the browser sends a request to get the site’s files</a:t>
            </a:r>
          </a:p>
          <a:p>
            <a:pPr>
              <a:lnSpc>
                <a:spcPct val="125000"/>
              </a:lnSpc>
              <a:spcAft>
                <a:spcPts val="1200"/>
              </a:spcAft>
              <a:defRPr sz="2000">
                <a:solidFill>
                  <a:srgbClr val="0F172A"/>
                </a:solidFill>
                <a:latin typeface="Aptos"/>
              </a:defRPr>
            </a:pPr>
            <a:r>
              <a:t>•  It doesn’t store websites but asks for them each time you visit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Web Servers: Website Homes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Web servers store website files such as text, images, and code</a:t>
            </a:r>
          </a:p>
          <a:p>
            <a:pPr>
              <a:lnSpc>
                <a:spcPct val="125000"/>
              </a:lnSpc>
              <a:spcAft>
                <a:spcPts val="1200"/>
              </a:spcAft>
              <a:defRPr sz="2000">
                <a:solidFill>
                  <a:srgbClr val="0F172A"/>
                </a:solidFill>
                <a:latin typeface="Aptos"/>
              </a:defRPr>
            </a:pPr>
            <a:r>
              <a:t>•  When your browser requests a site, the server sends these files back</a:t>
            </a:r>
          </a:p>
          <a:p>
            <a:pPr>
              <a:lnSpc>
                <a:spcPct val="125000"/>
              </a:lnSpc>
              <a:spcAft>
                <a:spcPts val="1200"/>
              </a:spcAft>
              <a:defRPr sz="2000">
                <a:solidFill>
                  <a:srgbClr val="0F172A"/>
                </a:solidFill>
                <a:latin typeface="Aptos"/>
              </a:defRPr>
            </a:pPr>
            <a:r>
              <a:t>•  Servers only send data after receiving a request, never automatically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Streaming Video Online</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When you watch a video on a website, your browser requests the video file from the server.</a:t>
            </a:r>
          </a:p>
          <a:p>
            <a:pPr>
              <a:lnSpc>
                <a:spcPct val="125000"/>
              </a:lnSpc>
              <a:spcAft>
                <a:spcPts val="1200"/>
              </a:spcAft>
              <a:defRPr sz="2000">
                <a:solidFill>
                  <a:srgbClr val="0F172A"/>
                </a:solidFill>
                <a:latin typeface="Aptos"/>
              </a:defRPr>
            </a:pPr>
            <a:r>
              <a:t>→  Browsers ask servers for video files to play.</a:t>
            </a:r>
          </a:p>
          <a:p>
            <a:pPr>
              <a:lnSpc>
                <a:spcPct val="125000"/>
              </a:lnSpc>
              <a:spcAft>
                <a:spcPts val="1200"/>
              </a:spcAft>
              <a:defRPr sz="2000">
                <a:solidFill>
                  <a:srgbClr val="0F172A"/>
                </a:solidFill>
                <a:latin typeface="Aptos"/>
              </a:defRPr>
            </a:pPr>
            <a:r>
              <a:t>→  Slow internet or busy servers cause buffering delays.</a:t>
            </a:r>
          </a:p>
          <a:p>
            <a:pPr>
              <a:lnSpc>
                <a:spcPct val="125000"/>
              </a:lnSpc>
              <a:spcAft>
                <a:spcPts val="1200"/>
              </a:spcAft>
              <a:defRPr sz="2000">
                <a:solidFill>
                  <a:srgbClr val="0F172A"/>
                </a:solidFill>
                <a:latin typeface="Aptos"/>
              </a:defRPr>
            </a:pPr>
            <a:r>
              <a:t>→  Knowing this explains why videos sometimes pause or load slowly.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Draw a Flow Diagram</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Create a labeled flow diagram showing how a browser sends a request, the server responds, and the browser displays the website</a:t>
            </a:r>
          </a:p>
        </p:txBody>
      </p:sp>
      <p:sp>
        <p:nvSpPr>
          <p:cNvPr id="7" name="Rounded Rectangle 6"/>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9" name="TextBox 8"/>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clear diagram with arrows and labels showing browser, server, and request steps.</a:t>
            </a:r>
          </a:p>
        </p:txBody>
      </p:sp>
      <p:sp>
        <p:nvSpPr>
          <p:cNvPr id="10" name="TextBox 9"/>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Includes browser, server, and request steps.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What surprised you about how websites load?</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How does knowing about browsers and servers help you understand the internet better?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Browsers contain the website content.</a:t>
            </a:r>
          </a:p>
          <a:p>
            <a:pPr>
              <a:lnSpc>
                <a:spcPct val="125000"/>
              </a:lnSpc>
              <a:spcAft>
                <a:spcPts val="800"/>
              </a:spcAft>
              <a:defRPr sz="1700">
                <a:solidFill>
                  <a:srgbClr val="0F172A"/>
                </a:solidFill>
                <a:latin typeface="Aptos"/>
              </a:defRPr>
            </a:pPr>
            <a:r>
              <a:t>•  Servers send website data without requests.</a:t>
            </a:r>
          </a:p>
          <a:p>
            <a:pPr>
              <a:lnSpc>
                <a:spcPct val="125000"/>
              </a:lnSpc>
              <a:spcAft>
                <a:spcPts val="800"/>
              </a:spcAft>
              <a:defRPr sz="1700">
                <a:solidFill>
                  <a:srgbClr val="0F172A"/>
                </a:solidFill>
                <a:latin typeface="Aptos"/>
              </a:defRPr>
            </a:pPr>
            <a:r>
              <a:t>•  The internet is a single computer instead of many connected devices.</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Provide sentence starters like: 'A browser is...', 'A server does...'.</a:t>
            </a:r>
          </a:p>
          <a:p>
            <a:pPr>
              <a:lnSpc>
                <a:spcPct val="125000"/>
              </a:lnSpc>
              <a:spcAft>
                <a:spcPts val="800"/>
              </a:spcAft>
              <a:defRPr sz="1700">
                <a:solidFill>
                  <a:srgbClr val="0F172A"/>
                </a:solidFill>
                <a:latin typeface="Aptos"/>
              </a:defRPr>
            </a:pPr>
            <a:r>
              <a:t>•  Use visuals and diagrams to support abstract ideas.</a:t>
            </a:r>
          </a:p>
          <a:p>
            <a:pPr>
              <a:lnSpc>
                <a:spcPct val="125000"/>
              </a:lnSpc>
              <a:spcAft>
                <a:spcPts val="800"/>
              </a:spcAft>
              <a:defRPr sz="1700">
                <a:solidFill>
                  <a:srgbClr val="0F172A"/>
                </a:solidFill>
                <a:latin typeface="Aptos"/>
              </a:defRPr>
            </a:pPr>
            <a:r>
              <a:t>•  Extension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