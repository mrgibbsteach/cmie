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serves as a transition into our exploration phase. Briefly explain that we’re about to dive into the problem of how images, links, and lists enhance websites. Encourage students to think about why these elements matter before we get technical. You can say, 'We’re going to investigate how these parts make websites better—not just prettier but easier to use.' Then smoothly move into the hook to get them curious.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by inviting students to imagine their favourite website stripped of images, links, and lists. Prompt discussion with a partner to share how those missing elements affect usability and appeal. Emphasise that images catch attention, links help us jump around, and lists organise info clearly. Listen for comments about websites feeling dull or confusing without these features. This sets a strong purpose for learning today’s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ask students to focus on identifying one key takeaway and how it relates to adding images, links, or lists. After watching, invite a quick share: What stood out? Did the video show how these elements improve navigation or user experience? Watch for students who might miss the connection to navigation or content clarity and gently guide them back to the essential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slide to signal we’re moving into the core concepts. Tell students they’ll now learn the specific HTML tags and best practices for adding images, links, and lists. Highlight that understanding these basics is key to building websites that look good and work well. Keep the energy up by reminding them this is the foundation for their own webpage creations.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images aren’t just decoration—they quickly communicate ideas and make pages inviting. Show the &lt;img&gt; tag structure, stressing the importance of the alt attribute to describe images for screen readers or when images don’t load. Use the puppy example to make it relatable. Watch out for students thinking alt text is optional or can be vague; clarify it should be clear and descriptive. Reinforce that &lt;img&gt; doesn’t need a closing tag, which can be tricky for beginners.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links are how websites connect and help users navigate easily. Demonstrate the &lt;a&gt; tag with href and explain the difference between link text and the URL itself. Use the example to show clickable text should be meaningful, not just ‘click here’ or the raw URL. Students often confuse the URL and link text or forget the closing &lt;/a&gt; tag, so highlight those details. A quick question: What might happen if the link text isn’t clear?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Introduce lists as a way to organise information clearly and logically. Compare unordered lists as bullet points and ordered lists as numbered steps. Show how each item must go inside &lt;li&gt; tags nested within &lt;ul&gt; or &lt;ol&gt;. Common confusion includes placing &lt;li&gt; outside lists or mixing tags incorrectly. Reinforce that proper nesting is essential for browsers to display lists correctly and for accessibility tools. You can ask, ‘When might you choose a numbered list instead of bullets?’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the recipe website example to connect the theory to a real-world context. Help students see how images preview the dish, links connect to related recipes, and lists organise ingredients and steps clearly. Ask students to consider how each element improves user experience and navigation. This concrete example should help them visualise applying these tags in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Announce that it’s time to put the concepts into practice. Briefly preview the upcoming activity, emphasising that students will build a webpage section using images, links, and lists. Encourage them to recall key points about alt text, link clarity, and list structure as they work. This slide signals a hands-on phase, so get students ready to focus and create.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clearly stating the task: create a webpage section about a hobby or interest including one image with alt text, two links with meaningful text, and a list with at least three items. Stress the importance of correct tag use and valid URLs. Circulate to check that images display properly with descriptive alt text, links are functional and clear, and list items are correctly nested. Offer help with troubleshooting and encourage students to test their work in a browser.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slide as a prompt to slow down and reflect on what they’ve learned and done. Encourage students to think about how images, links, and lists improved their webpage sections. This is a good moment to revisit the essential question and get students to articulate their understanding before the formal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whole-class or small-group discussion using these reflection questions. Ask why alt text is important and listen for answers about accessibility and fallback content. Explore how links help users navigate and when ordered lists are preferable, such as for step-by-step instructions. Use student answers to clarify misconceptions and deepen understanding. This is also a chance to reinforce the real-world value of these HTML elements.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the key misconceptions to watch for during activities and assessments: alt text being skipped, confusing link text with href URLs, and incorrect list tag placement. Suggest using starter templates for students needing support and offer advanced learners challenges like nested lists or internal links to extend their skills. Mention extension ideas like teaching relative versus absolute URLs and experimenting with image sizing attributes to deepen their understanding beyond the basics.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03</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Images, Links &amp; Lists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03</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Insert images with &lt;img&gt; using src and alt attributes.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Create clickable links with &lt;a&gt; and href.</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Build ordered (&lt;ol&gt;) and unordered (&lt;ul&gt;) lists with &lt;li&gt; items.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images, links, and lists improve website content and navigation?</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Picture your favorite website with no images, links, or lists</a:t>
            </a:r>
            <a:br/>
            <a:br/>
            <a:r>
              <a:t>Discuss with a partner how these elements make websites easier and more fun to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Add Images with &lt;img&gt;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Images make pages attractive and explain ideas fast</a:t>
            </a:r>
          </a:p>
          <a:p>
            <a:pPr>
              <a:lnSpc>
                <a:spcPct val="125000"/>
              </a:lnSpc>
              <a:spcAft>
                <a:spcPts val="1200"/>
              </a:spcAft>
              <a:defRPr sz="2000">
                <a:solidFill>
                  <a:srgbClr val="0F172A"/>
                </a:solidFill>
                <a:latin typeface="Aptos"/>
              </a:defRPr>
            </a:pPr>
            <a:r>
              <a:t>•  Use &lt;img src="file.jpg" alt="description"&gt;</a:t>
            </a:r>
          </a:p>
          <a:p>
            <a:pPr>
              <a:lnSpc>
                <a:spcPct val="125000"/>
              </a:lnSpc>
              <a:spcAft>
                <a:spcPts val="1200"/>
              </a:spcAft>
              <a:defRPr sz="2000">
                <a:solidFill>
                  <a:srgbClr val="0F172A"/>
                </a:solidFill>
                <a:latin typeface="Aptos"/>
              </a:defRPr>
            </a:pPr>
            <a:r>
              <a:t>•  Alt text describes the image for everyone</a:t>
            </a:r>
          </a:p>
          <a:p>
            <a:pPr>
              <a:lnSpc>
                <a:spcPct val="125000"/>
              </a:lnSpc>
              <a:spcAft>
                <a:spcPts val="1200"/>
              </a:spcAft>
              <a:defRPr sz="2000">
                <a:solidFill>
                  <a:srgbClr val="0F172A"/>
                </a:solidFill>
                <a:latin typeface="Aptos"/>
              </a:defRPr>
            </a:pPr>
            <a:r>
              <a:t>•  Example: &lt;img src="puppy.jpg" alt="A cute puppy playing in the grass"&gt;</a:t>
            </a:r>
          </a:p>
          <a:p>
            <a:pPr>
              <a:lnSpc>
                <a:spcPct val="125000"/>
              </a:lnSpc>
              <a:spcAft>
                <a:spcPts val="1200"/>
              </a:spcAft>
              <a:defRPr sz="2000">
                <a:solidFill>
                  <a:srgbClr val="0F172A"/>
                </a:solidFill>
                <a:latin typeface="Aptos"/>
              </a:defRPr>
            </a:pPr>
            <a:r>
              <a:t>•  No closing tag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Create Links with &lt;a&gt;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Links connect your page to others</a:t>
            </a:r>
          </a:p>
          <a:p>
            <a:pPr>
              <a:lnSpc>
                <a:spcPct val="125000"/>
              </a:lnSpc>
              <a:spcAft>
                <a:spcPts val="1200"/>
              </a:spcAft>
              <a:defRPr sz="2000">
                <a:solidFill>
                  <a:srgbClr val="0F172A"/>
                </a:solidFill>
                <a:latin typeface="Aptos"/>
              </a:defRPr>
            </a:pPr>
            <a:r>
              <a:t>•  Use &lt;a href="URL"&gt;link text&lt;/a&gt;</a:t>
            </a:r>
          </a:p>
          <a:p>
            <a:pPr>
              <a:lnSpc>
                <a:spcPct val="125000"/>
              </a:lnSpc>
              <a:spcAft>
                <a:spcPts val="1200"/>
              </a:spcAft>
              <a:defRPr sz="2000">
                <a:solidFill>
                  <a:srgbClr val="0F172A"/>
                </a:solidFill>
                <a:latin typeface="Aptos"/>
              </a:defRPr>
            </a:pPr>
            <a:r>
              <a:t>•  The link text is clickable, not the URL itself</a:t>
            </a:r>
          </a:p>
          <a:p>
            <a:pPr>
              <a:lnSpc>
                <a:spcPct val="125000"/>
              </a:lnSpc>
              <a:spcAft>
                <a:spcPts val="1200"/>
              </a:spcAft>
              <a:defRPr sz="2000">
                <a:solidFill>
                  <a:srgbClr val="0F172A"/>
                </a:solidFill>
                <a:latin typeface="Aptos"/>
              </a:defRPr>
            </a:pPr>
            <a:r>
              <a:t>•  Example: &lt;a href="https://www.example.com"&gt;Visit Example Site&lt;/a&gt;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Organize Info with Lists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Use &lt;ul&gt; for bullet lists and &lt;ol&gt; for numbered lists</a:t>
            </a:r>
          </a:p>
          <a:p>
            <a:pPr>
              <a:lnSpc>
                <a:spcPct val="125000"/>
              </a:lnSpc>
              <a:spcAft>
                <a:spcPts val="1200"/>
              </a:spcAft>
              <a:defRPr sz="2000">
                <a:solidFill>
                  <a:srgbClr val="0F172A"/>
                </a:solidFill>
                <a:latin typeface="Aptos"/>
              </a:defRPr>
            </a:pPr>
            <a:r>
              <a:t>•  Each item goes inside &lt;li&gt;</a:t>
            </a:r>
          </a:p>
          <a:p>
            <a:pPr>
              <a:lnSpc>
                <a:spcPct val="125000"/>
              </a:lnSpc>
              <a:spcAft>
                <a:spcPts val="1200"/>
              </a:spcAft>
              <a:defRPr sz="2000">
                <a:solidFill>
                  <a:srgbClr val="0F172A"/>
                </a:solidFill>
                <a:latin typeface="Aptos"/>
              </a:defRPr>
            </a:pPr>
            <a:r>
              <a:t>•  Example: &lt;ul&gt;&lt;li&gt;HTML&lt;/li&gt;&lt;li&gt;CSS&lt;/li&gt;&lt;li&gt;JavaScript&lt;/li&gt;&lt;/ul&gt;</a:t>
            </a:r>
          </a:p>
          <a:p>
            <a:pPr>
              <a:lnSpc>
                <a:spcPct val="125000"/>
              </a:lnSpc>
              <a:spcAft>
                <a:spcPts val="1200"/>
              </a:spcAft>
              <a:defRPr sz="2000">
                <a:solidFill>
                  <a:srgbClr val="0F172A"/>
                </a:solidFill>
                <a:latin typeface="Aptos"/>
              </a:defRPr>
            </a:pPr>
            <a:r>
              <a:t>•  Don’t place &lt;li&gt; outside &lt;ul&gt; or &lt;ol&gt;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Recipe Website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recipe site shows the finished dish with images, links to related recipes, and lists ingredients and steps.</a:t>
            </a:r>
          </a:p>
          <a:p>
            <a:pPr>
              <a:lnSpc>
                <a:spcPct val="125000"/>
              </a:lnSpc>
              <a:spcAft>
                <a:spcPts val="1200"/>
              </a:spcAft>
              <a:defRPr sz="2000">
                <a:solidFill>
                  <a:srgbClr val="0F172A"/>
                </a:solidFill>
                <a:latin typeface="Aptos"/>
              </a:defRPr>
            </a:pPr>
            <a:r>
              <a:t>→  Images preview the dish before cooking.</a:t>
            </a:r>
          </a:p>
          <a:p>
            <a:pPr>
              <a:lnSpc>
                <a:spcPct val="125000"/>
              </a:lnSpc>
              <a:spcAft>
                <a:spcPts val="1200"/>
              </a:spcAft>
              <a:defRPr sz="2000">
                <a:solidFill>
                  <a:srgbClr val="0F172A"/>
                </a:solidFill>
                <a:latin typeface="Aptos"/>
              </a:defRPr>
            </a:pPr>
            <a:r>
              <a:t>→  Links help users find more recipes.</a:t>
            </a:r>
          </a:p>
          <a:p>
            <a:pPr>
              <a:lnSpc>
                <a:spcPct val="125000"/>
              </a:lnSpc>
              <a:spcAft>
                <a:spcPts val="1200"/>
              </a:spcAft>
              <a:defRPr sz="2000">
                <a:solidFill>
                  <a:srgbClr val="0F172A"/>
                </a:solidFill>
                <a:latin typeface="Aptos"/>
              </a:defRPr>
            </a:pPr>
            <a:r>
              <a:t>→  Lists organize ingredients and instructions clearly.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Build a Webpage Section</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Create a webpage section about a hobby or interest</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Include: 1 image with alt text, 2 links to real websites, and 1 ordered or unordered list with 3+ items</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An HTML file showing correct use of &lt;img&gt;, &lt;a&gt;, and list tags.</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Image displays with descriptive alt 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Why is alt text important for images?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 links improve website navigation?</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When should you use an ordered list instead of unordered?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Skipping or ignoring alt text.</a:t>
            </a:r>
          </a:p>
          <a:p>
            <a:pPr>
              <a:lnSpc>
                <a:spcPct val="125000"/>
              </a:lnSpc>
              <a:spcAft>
                <a:spcPts val="800"/>
              </a:spcAft>
              <a:defRPr sz="1700">
                <a:solidFill>
                  <a:srgbClr val="0F172A"/>
                </a:solidFill>
                <a:latin typeface="Aptos"/>
              </a:defRPr>
            </a:pPr>
            <a:r>
              <a:t>•  Confusing href URLs with link text.</a:t>
            </a:r>
          </a:p>
          <a:p>
            <a:pPr>
              <a:lnSpc>
                <a:spcPct val="125000"/>
              </a:lnSpc>
              <a:spcAft>
                <a:spcPts val="800"/>
              </a:spcAft>
              <a:defRPr sz="1700">
                <a:solidFill>
                  <a:srgbClr val="0F172A"/>
                </a:solidFill>
                <a:latin typeface="Aptos"/>
              </a:defRPr>
            </a:pPr>
            <a:r>
              <a:t>•  Placing &lt;li&gt; outside of &lt;ul&gt; or &lt;ol&gt;.</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a starter HTML template for support.</a:t>
            </a:r>
          </a:p>
          <a:p>
            <a:pPr>
              <a:lnSpc>
                <a:spcPct val="125000"/>
              </a:lnSpc>
              <a:spcAft>
                <a:spcPts val="800"/>
              </a:spcAft>
              <a:defRPr sz="1700">
                <a:solidFill>
                  <a:srgbClr val="0F172A"/>
                </a:solidFill>
                <a:latin typeface="Aptos"/>
              </a:defRPr>
            </a:pPr>
            <a:r>
              <a:t>•  Challenge advanced students to add nested lists or internal page links.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