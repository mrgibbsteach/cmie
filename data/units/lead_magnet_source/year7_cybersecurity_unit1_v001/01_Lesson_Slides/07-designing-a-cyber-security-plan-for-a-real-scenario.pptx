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section slide signals the start of our investigation into the problem of online safety. Use this moment to set the tone: we’re moving from theory to practical, real-world problem-solving. Prompt students to think about what kinds of issues people face online and why it’s important to understand these risks before designing solutions. You can say something like, 'Today, we’re going to dig deeper into how to protect ourselves online by exploring real problems and coming up with plans to stay safe.' Transition smoothly by asking, 'What problems do you think people might run into when they use the internet?'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curiosity here and get students predicting before you explain anything. This hook is designed to grab attention by presenting a relatable and slightly mysterious scenario. Encourage students to predict what went wrong and why the person received strange messages. Emphasise that this is a common issue many face when they don’t consider their digital footprint or privacy settings. Ask, 'What might cause those weird friend requests? Could it be something they shared or didn’t protect?' Watch for answers that blame strangers only—remind them that sometimes friends or oversharing can also cause risks. This will prime them for understanding cyber risks broadly.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playing the video, tell students exactly what key idea or pattern they should listen for. Before playing the video, tell students to focus on identifying one key idea and how it links to designing a cyber plan. The video should reinforce the importance of awareness and proactive protection online. After watching, ask students to share what stood out to them and how it connects to staying safe. Watch for students who might miss the connection between the video’s examples and the lesson’s focus. Use this opportunity to clarify any confusion and highlight how real-world examples show the need for a cyber security plan.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section slide introduces the core concepts we need before applying them. Remind students that these key ideas will help them understand how to identify risks and build strategies. Use this moment to encourage focus and note-taking. You might say, 'Now we’ll learn the main ideas that will help you create your own safety plan. Pay close attention because these ideas will guide your thinking later in the lesson.' Transition by asking, 'What do you already know about staying safe online that might help us here?'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explanation tight here, then check understanding with a quick example or comparison. Here we unpack what cyber risks look like in everyday online use. Be clear that risks aren’t just about strangers—friends and family can unintentionally cause problems too, like sharing personal info. Use the example of sharing a full birthdate publicly to explain identity theft in a simple way. Emphasise that even small details can be risky. A common misconception is students thinking only 'bad people' online pose threats. Challenge this by asking, 'Can someone you know cause a risk online? How?' This helps broaden their understanding of where risks come from.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the explanation tight here, then check understanding with a quick example or comparison. This slide focuses on practical strategies to protect personal info. Explain the importance of strong, unique passwords and privacy settings with everyday language—compare passwords to keys that shouldn’t open every door. Use the example of setting a profile to private to make it concrete. Watch for students who think a single strong password is enough; remind them that reusing passwords is risky. Ask, 'Why do you think sharing less information or using privacy settings helps keep you safer?' to encourage deeper thinking about control over personal data.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example to connect the concept to a real system students might already know. Use this real-world example to show consequences of ignoring privacy policies and data collection. Break down why the app collecting more data than expected is a problem—students often overlook how apps gather info silently. Connect this to earlier points about privacy settings and strong passwords as protective measures. Ask, 'How could users have reduced their risks in this situation?' Encourage students to think critically about the trade-offs in using apps and sharing data. This will help them see cyber security as an ongoing, active process.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section slide prepares students to apply what they’ve learned in a practical way. Emphasise that they’re moving from understanding concepts to creating something useful—a cyber security plan. You might say, 'Now it’s your turn to put these ideas into action by designing a plan that keeps you safe in a real online setting.' Prompt them to think about the risks and strategies discussed so far. Transition by asking, 'What kinds of risks might you face in new online groups or communities?' to set the scene for the upcoming activity.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Launch the task clearly, then circulate to check reasoning rather than just completion. Launch this activity by clearly explaining the task: students will imagine joining a new online hobby group and create a plan listing three risks, three strategies, and explanations for each. Stress that success means identifying realistic risks and practical ways to reduce them, not just copying ideas from earlier slides. Encourage students to think about risks beyond strangers—like oversharing or trusting unknown members. Circulate to check students are linking strategies to risk reduction and to support those who struggle with wording or ideas. Offer prompts like, 'How does this strategy help keep your info safe?' for deeper thinking.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briefly frame the next phase of the lesson and signal the shift in focus. This section slide signals a moment to pause and reflect on learning. Remind students that reflection helps deepen understanding and prepares them to apply strategies outside class. You can say, 'Let’s take some time to think about what you’ve created and what you found tricky.' Encourage them to consider how they will use these plans personally. Transition by inviting students to share their thoughts aloud or jot down notes, setting up the next slide’s reflection questions.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moment to check what students actually understand, not just what they remember. Guide students through these reflection questions by asking them to consider the challenges they faced in planning and how they might apply these strategies in their own online lives. Encourage honest answers and model your own reflections to build trust. This helps check for understanding and personal connection to the content. If some students struggle, prompt with examples like, 'Was it hard to think of risks? Or to explain why a strategy works?' Use their responses to identify any lingering misconceptions or gaps to address before the lesson ends.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Treat this slide as a quick teaching reminder before or during delivery. This final slide is your teaching cheat sheet. Be alert for misconceptions like students thinking friends and family can’t cause cyber problems, or that one strong password is enough. These are common and important to correct early. Use the suggested differentiation strategies to support students who need help structuring their plans, and challenge advanced learners by asking them to include breach response steps. For extension, encourage research on recent cyber breaches to connect learning to current events. This slide is your guide for ensuring all students get the right support and stretch opportunities.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858000" cy="685800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793992" y="0"/>
            <a:ext cx="128016" cy="6858000"/>
          </a:xfrm>
          <a:prstGeom prst="rect">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560320"/>
            <a:ext cx="4572000" cy="5029200"/>
          </a:xfrm>
          <a:prstGeom prst="rect">
            <a:avLst/>
          </a:prstGeom>
          <a:noFill/>
        </p:spPr>
        <p:txBody>
          <a:bodyPr wrap="square">
            <a:spAutoFit/>
          </a:bodyPr>
          <a:lstStyle/>
          <a:p>
            <a:pPr algn="ctr">
              <a:defRPr sz="21000" b="1" i="0">
                <a:solidFill>
                  <a:srgbClr val="3730A3"/>
                </a:solidFill>
                <a:latin typeface="Aptos Display"/>
              </a:defRPr>
            </a:pPr>
            <a:r>
              <a:t>07</a:t>
            </a:r>
          </a:p>
        </p:txBody>
      </p:sp>
      <p:sp>
        <p:nvSpPr>
          <p:cNvPr id="5" name="Rectangle 4"/>
          <p:cNvSpPr/>
          <p:nvPr/>
        </p:nvSpPr>
        <p:spPr>
          <a:xfrm>
            <a:off x="502920" y="1234440"/>
            <a:ext cx="2377440" cy="73152"/>
          </a:xfrm>
          <a:prstGeom prst="rect">
            <a:avLst/>
          </a:prstGeom>
          <a:solidFill>
            <a:srgbClr val="FDE6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481328"/>
            <a:ext cx="6080760" cy="3108960"/>
          </a:xfrm>
          <a:prstGeom prst="rect">
            <a:avLst/>
          </a:prstGeom>
          <a:noFill/>
        </p:spPr>
        <p:txBody>
          <a:bodyPr wrap="square">
            <a:spAutoFit/>
          </a:bodyPr>
          <a:lstStyle/>
          <a:p>
            <a:pPr algn="l">
              <a:defRPr sz="4200" b="1" i="0">
                <a:solidFill>
                  <a:srgbClr val="FFFFFF"/>
                </a:solidFill>
                <a:latin typeface="Aptos Display"/>
              </a:defRPr>
            </a:pPr>
            <a:r>
              <a:t>Designing a Cyber Plan</a:t>
            </a:r>
          </a:p>
        </p:txBody>
      </p:sp>
      <p:sp>
        <p:nvSpPr>
          <p:cNvPr id="7" name="TextBox 6"/>
          <p:cNvSpPr txBox="1"/>
          <p:nvPr/>
        </p:nvSpPr>
        <p:spPr>
          <a:xfrm>
            <a:off x="502920" y="4572000"/>
            <a:ext cx="5943600" cy="502920"/>
          </a:xfrm>
          <a:prstGeom prst="rect">
            <a:avLst/>
          </a:prstGeom>
          <a:noFill/>
        </p:spPr>
        <p:txBody>
          <a:bodyPr wrap="square">
            <a:spAutoFit/>
          </a:bodyPr>
          <a:lstStyle/>
          <a:p>
            <a:pPr algn="l">
              <a:defRPr sz="1400" b="0" i="0">
                <a:solidFill>
                  <a:srgbClr val="C7D2FE"/>
                </a:solidFill>
                <a:latin typeface="Aptos"/>
              </a:defRPr>
            </a:pPr>
            <a:r>
              <a:t>Cyber Security &amp; Digital Footprints: Unit 1 – Protecting Yourself Online</a:t>
            </a:r>
          </a:p>
        </p:txBody>
      </p:sp>
      <p:sp>
        <p:nvSpPr>
          <p:cNvPr id="8" name="Rounded Rectangle 7"/>
          <p:cNvSpPr/>
          <p:nvPr/>
        </p:nvSpPr>
        <p:spPr>
          <a:xfrm>
            <a:off x="502920" y="6053328"/>
            <a:ext cx="1755648" cy="47548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4338CA"/>
                </a:solidFill>
                <a:latin typeface="Aptos"/>
              </a:defRPr>
            </a:pPr>
            <a:r>
              <a:t>Lesson 07</a:t>
            </a:r>
          </a:p>
        </p:txBody>
      </p:sp>
      <p:sp>
        <p:nvSpPr>
          <p:cNvPr id="9" name="Rectangle 8"/>
          <p:cNvSpPr/>
          <p:nvPr/>
        </p:nvSpPr>
        <p:spPr>
          <a:xfrm>
            <a:off x="6858000" y="0"/>
            <a:ext cx="5333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229600" y="0"/>
            <a:ext cx="3200400" cy="3200400"/>
          </a:xfrm>
          <a:prstGeom prst="ellipse">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24160" y="-365760"/>
            <a:ext cx="2103120" cy="2103120"/>
          </a:xfrm>
          <a:prstGeom prst="ellipse">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772400" y="3840480"/>
            <a:ext cx="2560320" cy="2560320"/>
          </a:xfrm>
          <a:prstGeom prst="ellipse">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89920" y="4754880"/>
            <a:ext cx="1554480" cy="1554480"/>
          </a:xfrm>
          <a:prstGeom prst="ellipse">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114032" y="3246120"/>
            <a:ext cx="4828032" cy="457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64748B"/>
                </a:solidFill>
                <a:latin typeface="Aptos"/>
              </a:defRPr>
            </a:pPr>
            <a:r>
              <a:t>Lower Secondary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46304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09728"/>
            <a:ext cx="9144000" cy="804672"/>
          </a:xfrm>
          <a:prstGeom prst="rect">
            <a:avLst/>
          </a:prstGeom>
          <a:noFill/>
        </p:spPr>
        <p:txBody>
          <a:bodyPr wrap="square">
            <a:spAutoFit/>
          </a:bodyPr>
          <a:lstStyle/>
          <a:p>
            <a:pPr algn="l">
              <a:defRPr sz="3000" b="1" i="0">
                <a:solidFill>
                  <a:srgbClr val="FFFFFF"/>
                </a:solidFill>
                <a:latin typeface="Aptos Display"/>
              </a:defRPr>
            </a:pPr>
            <a:r>
              <a:t>Learning Objectives</a:t>
            </a:r>
          </a:p>
        </p:txBody>
      </p:sp>
      <p:sp>
        <p:nvSpPr>
          <p:cNvPr id="4" name="TextBox 3"/>
          <p:cNvSpPr txBox="1"/>
          <p:nvPr/>
        </p:nvSpPr>
        <p:spPr>
          <a:xfrm>
            <a:off x="502920" y="896112"/>
            <a:ext cx="9144000" cy="438912"/>
          </a:xfrm>
          <a:prstGeom prst="rect">
            <a:avLst/>
          </a:prstGeom>
          <a:noFill/>
        </p:spPr>
        <p:txBody>
          <a:bodyPr wrap="square">
            <a:spAutoFit/>
          </a:bodyPr>
          <a:lstStyle/>
          <a:p>
            <a:pPr algn="l">
              <a:defRPr sz="1300" b="0" i="1">
                <a:solidFill>
                  <a:srgbClr val="C7D2FE"/>
                </a:solidFill>
                <a:latin typeface="Aptos"/>
              </a:defRPr>
            </a:pPr>
            <a:r>
              <a:t>By the end of this lesson, you will be able to:</a:t>
            </a:r>
          </a:p>
        </p:txBody>
      </p:sp>
      <p:sp>
        <p:nvSpPr>
          <p:cNvPr id="5" name="Rounded Rectangle 4"/>
          <p:cNvSpPr/>
          <p:nvPr/>
        </p:nvSpPr>
        <p:spPr>
          <a:xfrm>
            <a:off x="457200" y="162763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11480" y="157276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572768"/>
            <a:ext cx="109728" cy="91440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755648"/>
            <a:ext cx="475488" cy="530352"/>
          </a:xfrm>
          <a:prstGeom prst="rect">
            <a:avLst/>
          </a:prstGeom>
          <a:noFill/>
        </p:spPr>
        <p:txBody>
          <a:bodyPr wrap="square">
            <a:spAutoFit/>
          </a:bodyPr>
          <a:lstStyle/>
          <a:p>
            <a:pPr algn="l">
              <a:defRPr sz="2600" b="1" i="0">
                <a:solidFill>
                  <a:srgbClr val="4338CA"/>
                </a:solidFill>
                <a:latin typeface="Aptos Display"/>
              </a:defRPr>
            </a:pPr>
            <a:r>
              <a:t>1</a:t>
            </a:r>
          </a:p>
        </p:txBody>
      </p:sp>
      <p:sp>
        <p:nvSpPr>
          <p:cNvPr id="9" name="TextBox 8"/>
          <p:cNvSpPr txBox="1"/>
          <p:nvPr/>
        </p:nvSpPr>
        <p:spPr>
          <a:xfrm>
            <a:off x="1298448" y="1709928"/>
            <a:ext cx="10149840" cy="713232"/>
          </a:xfrm>
          <a:prstGeom prst="rect">
            <a:avLst/>
          </a:prstGeom>
          <a:noFill/>
        </p:spPr>
        <p:txBody>
          <a:bodyPr wrap="square">
            <a:spAutoFit/>
          </a:bodyPr>
          <a:lstStyle/>
          <a:p>
            <a:pPr algn="l">
              <a:defRPr sz="2000" b="0" i="0">
                <a:solidFill>
                  <a:srgbClr val="0F172A"/>
                </a:solidFill>
                <a:latin typeface="Aptos"/>
              </a:defRPr>
            </a:pPr>
            <a:r>
              <a:t>Identify cyber risks in real scenarios</a:t>
            </a:r>
          </a:p>
        </p:txBody>
      </p:sp>
      <p:sp>
        <p:nvSpPr>
          <p:cNvPr id="10" name="Rounded Rectangle 9"/>
          <p:cNvSpPr/>
          <p:nvPr/>
        </p:nvSpPr>
        <p:spPr>
          <a:xfrm>
            <a:off x="457200" y="263347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11480" y="257860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1480" y="2578608"/>
            <a:ext cx="109728" cy="9144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761488"/>
            <a:ext cx="475488" cy="530352"/>
          </a:xfrm>
          <a:prstGeom prst="rect">
            <a:avLst/>
          </a:prstGeom>
          <a:noFill/>
        </p:spPr>
        <p:txBody>
          <a:bodyPr wrap="square">
            <a:spAutoFit/>
          </a:bodyPr>
          <a:lstStyle/>
          <a:p>
            <a:pPr algn="l">
              <a:defRPr sz="2600" b="1" i="0">
                <a:solidFill>
                  <a:srgbClr val="0D9488"/>
                </a:solidFill>
                <a:latin typeface="Aptos Display"/>
              </a:defRPr>
            </a:pPr>
            <a:r>
              <a:t>2</a:t>
            </a:r>
          </a:p>
        </p:txBody>
      </p:sp>
      <p:sp>
        <p:nvSpPr>
          <p:cNvPr id="14" name="TextBox 13"/>
          <p:cNvSpPr txBox="1"/>
          <p:nvPr/>
        </p:nvSpPr>
        <p:spPr>
          <a:xfrm>
            <a:off x="1298448" y="2715768"/>
            <a:ext cx="10149840" cy="713232"/>
          </a:xfrm>
          <a:prstGeom prst="rect">
            <a:avLst/>
          </a:prstGeom>
          <a:noFill/>
        </p:spPr>
        <p:txBody>
          <a:bodyPr wrap="square">
            <a:spAutoFit/>
          </a:bodyPr>
          <a:lstStyle/>
          <a:p>
            <a:pPr algn="l">
              <a:defRPr sz="2000" b="0" i="0">
                <a:solidFill>
                  <a:srgbClr val="0F172A"/>
                </a:solidFill>
                <a:latin typeface="Aptos"/>
              </a:defRPr>
            </a:pPr>
            <a:r>
              <a:t>Create clear strategies to protect data</a:t>
            </a:r>
          </a:p>
        </p:txBody>
      </p:sp>
      <p:sp>
        <p:nvSpPr>
          <p:cNvPr id="15" name="Rounded Rectangle 14"/>
          <p:cNvSpPr/>
          <p:nvPr/>
        </p:nvSpPr>
        <p:spPr>
          <a:xfrm>
            <a:off x="457200" y="3639312"/>
            <a:ext cx="11365992" cy="914400"/>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11480" y="3584448"/>
            <a:ext cx="11365992" cy="914400"/>
          </a:xfrm>
          <a:prstGeom prst="roundRect">
            <a:avLst/>
          </a:prstGeom>
          <a:solidFill>
            <a:srgbClr val="F8FAFC"/>
          </a:solidFill>
          <a:ln w="63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 y="3584448"/>
            <a:ext cx="109728" cy="91440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767328"/>
            <a:ext cx="475488" cy="530352"/>
          </a:xfrm>
          <a:prstGeom prst="rect">
            <a:avLst/>
          </a:prstGeom>
          <a:noFill/>
        </p:spPr>
        <p:txBody>
          <a:bodyPr wrap="square">
            <a:spAutoFit/>
          </a:bodyPr>
          <a:lstStyle/>
          <a:p>
            <a:pPr algn="l">
              <a:defRPr sz="2600" b="1" i="0">
                <a:solidFill>
                  <a:srgbClr val="B45309"/>
                </a:solidFill>
                <a:latin typeface="Aptos Display"/>
              </a:defRPr>
            </a:pPr>
            <a:r>
              <a:t>3</a:t>
            </a:r>
          </a:p>
        </p:txBody>
      </p:sp>
      <p:sp>
        <p:nvSpPr>
          <p:cNvPr id="19" name="TextBox 18"/>
          <p:cNvSpPr txBox="1"/>
          <p:nvPr/>
        </p:nvSpPr>
        <p:spPr>
          <a:xfrm>
            <a:off x="1298448" y="3721608"/>
            <a:ext cx="10149840" cy="713232"/>
          </a:xfrm>
          <a:prstGeom prst="rect">
            <a:avLst/>
          </a:prstGeom>
          <a:noFill/>
        </p:spPr>
        <p:txBody>
          <a:bodyPr wrap="square">
            <a:spAutoFit/>
          </a:bodyPr>
          <a:lstStyle/>
          <a:p>
            <a:pPr algn="l">
              <a:defRPr sz="2000" b="0" i="0">
                <a:solidFill>
                  <a:srgbClr val="0F172A"/>
                </a:solidFill>
                <a:latin typeface="Aptos"/>
              </a:defRPr>
            </a:pPr>
            <a:r>
              <a:t>Explain how strategies reduce threats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858000" y="-1828800"/>
            <a:ext cx="5943600" cy="5486400"/>
          </a:xfrm>
          <a:prstGeom prst="rect">
            <a:avLst/>
          </a:prstGeom>
          <a:noFill/>
        </p:spPr>
        <p:txBody>
          <a:bodyPr wrap="square">
            <a:spAutoFit/>
          </a:bodyPr>
          <a:lstStyle/>
          <a:p>
            <a:pPr algn="ctr">
              <a:defRPr sz="38000" b="1" i="0">
                <a:solidFill>
                  <a:srgbClr val="3730A3"/>
                </a:solidFill>
                <a:latin typeface="Aptos Display"/>
              </a:defRPr>
            </a:pPr>
            <a:r>
              <a:t>“</a:t>
            </a:r>
          </a:p>
        </p:txBody>
      </p:sp>
      <p:sp>
        <p:nvSpPr>
          <p:cNvPr id="3" name="Rounded Rectangle 2"/>
          <p:cNvSpPr/>
          <p:nvPr/>
        </p:nvSpPr>
        <p:spPr>
          <a:xfrm>
            <a:off x="502920" y="384048"/>
            <a:ext cx="2286000" cy="457200"/>
          </a:xfrm>
          <a:prstGeom prst="round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Aptos"/>
              </a:defRPr>
            </a:pPr>
            <a:r>
              <a:t>Essential Question</a:t>
            </a:r>
          </a:p>
        </p:txBody>
      </p:sp>
      <p:sp>
        <p:nvSpPr>
          <p:cNvPr id="4" name="Rectangle 3"/>
          <p:cNvSpPr/>
          <p:nvPr/>
        </p:nvSpPr>
        <p:spPr>
          <a:xfrm>
            <a:off x="502920" y="987552"/>
            <a:ext cx="228600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51560"/>
            <a:ext cx="1280160" cy="1280160"/>
          </a:xfrm>
          <a:prstGeom prst="rect">
            <a:avLst/>
          </a:prstGeom>
          <a:noFill/>
        </p:spPr>
        <p:txBody>
          <a:bodyPr wrap="square">
            <a:spAutoFit/>
          </a:bodyPr>
          <a:lstStyle/>
          <a:p>
            <a:pPr algn="l">
              <a:defRPr sz="11000" b="1" i="0">
                <a:solidFill>
                  <a:srgbClr val="C7D2FE"/>
                </a:solidFill>
                <a:latin typeface="Aptos Display"/>
              </a:defRPr>
            </a:pPr>
            <a:r>
              <a:t>“</a:t>
            </a:r>
          </a:p>
        </p:txBody>
      </p:sp>
      <p:sp>
        <p:nvSpPr>
          <p:cNvPr id="6" name="TextBox 5"/>
          <p:cNvSpPr txBox="1"/>
          <p:nvPr/>
        </p:nvSpPr>
        <p:spPr>
          <a:xfrm>
            <a:off x="594360" y="2103120"/>
            <a:ext cx="9875520" cy="3840480"/>
          </a:xfrm>
          <a:prstGeom prst="rect">
            <a:avLst/>
          </a:prstGeom>
          <a:noFill/>
        </p:spPr>
        <p:txBody>
          <a:bodyPr wrap="square">
            <a:spAutoFit/>
          </a:bodyPr>
          <a:lstStyle/>
          <a:p>
            <a:pPr algn="l">
              <a:defRPr sz="3400" b="0" i="0">
                <a:solidFill>
                  <a:srgbClr val="FFFFFF"/>
                </a:solidFill>
                <a:latin typeface="Aptos Display"/>
              </a:defRPr>
            </a:pPr>
            <a:r>
              <a:t>How can I design a cyber plan to stay safe online?</a:t>
            </a:r>
          </a:p>
        </p:txBody>
      </p:sp>
      <p:sp>
        <p:nvSpPr>
          <p:cNvPr id="7" name="TextBox 6"/>
          <p:cNvSpPr txBox="1"/>
          <p:nvPr/>
        </p:nvSpPr>
        <p:spPr>
          <a:xfrm>
            <a:off x="9144000" y="4572000"/>
            <a:ext cx="2743200" cy="1828800"/>
          </a:xfrm>
          <a:prstGeom prst="rect">
            <a:avLst/>
          </a:prstGeom>
          <a:noFill/>
        </p:spPr>
        <p:txBody>
          <a:bodyPr wrap="square">
            <a:spAutoFit/>
          </a:bodyPr>
          <a:lstStyle/>
          <a:p>
            <a:pPr algn="l">
              <a:defRPr sz="11000" b="1" i="0">
                <a:solidFill>
                  <a:srgbClr val="3730A3"/>
                </a:solidFill>
                <a:latin typeface="Aptos Display"/>
              </a:defRPr>
            </a:pP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EXPLORE</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Let's investigate the problem.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ounded Rectangle 1"/>
          <p:cNvSpPr/>
          <p:nvPr/>
        </p:nvSpPr>
        <p:spPr>
          <a:xfrm>
            <a:off x="502920" y="292608"/>
            <a:ext cx="1481328" cy="457200"/>
          </a:xfrm>
          <a:prstGeom prst="round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ptos"/>
              </a:defRPr>
            </a:pPr>
            <a:r>
              <a:t>💡 Hook</a:t>
            </a:r>
          </a:p>
        </p:txBody>
      </p:sp>
      <p:sp>
        <p:nvSpPr>
          <p:cNvPr id="3" name="TextBox 2"/>
          <p:cNvSpPr txBox="1"/>
          <p:nvPr/>
        </p:nvSpPr>
        <p:spPr>
          <a:xfrm>
            <a:off x="9144000" y="0"/>
            <a:ext cx="3200400" cy="3840480"/>
          </a:xfrm>
          <a:prstGeom prst="rect">
            <a:avLst/>
          </a:prstGeom>
          <a:noFill/>
        </p:spPr>
        <p:txBody>
          <a:bodyPr wrap="square">
            <a:spAutoFit/>
          </a:bodyPr>
          <a:lstStyle/>
          <a:p>
            <a:pPr algn="l">
              <a:defRPr sz="26000" b="1" i="0">
                <a:solidFill>
                  <a:srgbClr val="C7D2FE"/>
                </a:solidFill>
                <a:latin typeface="Aptos Display"/>
              </a:defRPr>
            </a:pPr>
            <a:r>
              <a:t>“</a:t>
            </a:r>
          </a:p>
        </p:txBody>
      </p:sp>
      <p:sp>
        <p:nvSpPr>
          <p:cNvPr id="4" name="Rounded Rectangle 3"/>
          <p:cNvSpPr/>
          <p:nvPr/>
        </p:nvSpPr>
        <p:spPr>
          <a:xfrm>
            <a:off x="502920" y="932688"/>
            <a:ext cx="11201400" cy="5349240"/>
          </a:xfrm>
          <a:prstGeom prst="roundRect">
            <a:avLst/>
          </a:prstGeom>
          <a:solidFill>
            <a:srgbClr val="FFFFFF"/>
          </a:solidFill>
          <a:ln w="1905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932688"/>
            <a:ext cx="109728" cy="5349240"/>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463040"/>
            <a:ext cx="10378440" cy="4572000"/>
          </a:xfrm>
          <a:prstGeom prst="rect">
            <a:avLst/>
          </a:prstGeom>
          <a:noFill/>
        </p:spPr>
        <p:txBody>
          <a:bodyPr wrap="square">
            <a:spAutoFit/>
          </a:bodyPr>
          <a:lstStyle/>
          <a:p>
            <a:pPr algn="l">
              <a:defRPr sz="2200" b="0" i="0">
                <a:solidFill>
                  <a:srgbClr val="0F172A"/>
                </a:solidFill>
                <a:latin typeface="Aptos"/>
              </a:defRPr>
            </a:pPr>
            <a:r>
              <a:t>You create a new social media profile</a:t>
            </a:r>
            <a:br/>
            <a:br/>
            <a:r>
              <a:t>Within a week, you get strange messages and friend requests from unknown people</a:t>
            </a:r>
            <a:br/>
            <a:br/>
            <a:r>
              <a:t>What might have gone wrong?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Watch &amp; Think</a:t>
            </a:r>
          </a:p>
        </p:txBody>
      </p:sp>
      <p:sp>
        <p:nvSpPr>
          <p:cNvPr id="4" name="Rounded Rectangle 3"/>
          <p:cNvSpPr/>
          <p:nvPr/>
        </p:nvSpPr>
        <p:spPr>
          <a:xfrm>
            <a:off x="384048" y="1417320"/>
            <a:ext cx="6931152" cy="448056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84048" y="1417320"/>
            <a:ext cx="6931152" cy="73152"/>
          </a:xfrm>
          <a:prstGeom prst="rect">
            <a:avLst/>
          </a:prstGeom>
          <a:solidFill>
            <a:srgbClr val="1E28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84048" y="5486400"/>
            <a:ext cx="6931152" cy="41148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5577840"/>
            <a:ext cx="3812133"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3461004" y="3063240"/>
            <a:ext cx="777240" cy="777240"/>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3000">
                <a:solidFill>
                  <a:srgbClr val="FFFFFF"/>
                </a:solidFill>
                <a:latin typeface="Aptos"/>
              </a:defRPr>
            </a:pPr>
            <a:r>
              <a:t>▶</a:t>
            </a:r>
          </a:p>
        </p:txBody>
      </p:sp>
      <p:sp>
        <p:nvSpPr>
          <p:cNvPr id="9" name="TextBox 8"/>
          <p:cNvSpPr txBox="1"/>
          <p:nvPr/>
        </p:nvSpPr>
        <p:spPr>
          <a:xfrm>
            <a:off x="384048" y="6025896"/>
            <a:ext cx="6931152" cy="402336"/>
          </a:xfrm>
          <a:prstGeom prst="rect">
            <a:avLst/>
          </a:prstGeom>
          <a:noFill/>
        </p:spPr>
        <p:txBody>
          <a:bodyPr wrap="square">
            <a:spAutoFit/>
          </a:bodyPr>
          <a:lstStyle/>
          <a:p>
            <a:pPr algn="l">
              <a:defRPr sz="1100" b="0" i="1">
                <a:solidFill>
                  <a:srgbClr val="64748B"/>
                </a:solidFill>
                <a:latin typeface="Aptos"/>
              </a:defRPr>
            </a:pPr>
            <a:r>
              <a:t>Video URL will be provided by your teacher</a:t>
            </a:r>
          </a:p>
        </p:txBody>
      </p:sp>
      <p:sp>
        <p:nvSpPr>
          <p:cNvPr id="10" name="TextBox 9"/>
          <p:cNvSpPr txBox="1"/>
          <p:nvPr/>
        </p:nvSpPr>
        <p:spPr>
          <a:xfrm>
            <a:off x="7571231" y="1572768"/>
            <a:ext cx="4343400" cy="457200"/>
          </a:xfrm>
          <a:prstGeom prst="rect">
            <a:avLst/>
          </a:prstGeom>
          <a:noFill/>
        </p:spPr>
        <p:txBody>
          <a:bodyPr wrap="square">
            <a:spAutoFit/>
          </a:bodyPr>
          <a:lstStyle/>
          <a:p>
            <a:pPr algn="l">
              <a:defRPr sz="1400" b="1" i="0">
                <a:solidFill>
                  <a:srgbClr val="64748B"/>
                </a:solidFill>
                <a:latin typeface="Aptos"/>
              </a:defRPr>
            </a:pPr>
            <a:r>
              <a:t>While you watch:</a:t>
            </a:r>
          </a:p>
        </p:txBody>
      </p:sp>
      <p:sp>
        <p:nvSpPr>
          <p:cNvPr id="11" name="Rounded Rectangle 10"/>
          <p:cNvSpPr/>
          <p:nvPr/>
        </p:nvSpPr>
        <p:spPr>
          <a:xfrm>
            <a:off x="7635240" y="2240280"/>
            <a:ext cx="4343400"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571231" y="2176272"/>
            <a:ext cx="4343400" cy="1207008"/>
          </a:xfrm>
          <a:prstGeom prst="round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71231" y="2176272"/>
            <a:ext cx="73152"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27264" y="2359152"/>
            <a:ext cx="3913632" cy="822960"/>
          </a:xfrm>
          <a:prstGeom prst="rect">
            <a:avLst/>
          </a:prstGeom>
          <a:noFill/>
        </p:spPr>
        <p:txBody>
          <a:bodyPr wrap="square">
            <a:spAutoFit/>
          </a:bodyPr>
          <a:lstStyle/>
          <a:p>
            <a:pPr algn="l">
              <a:defRPr sz="1600" b="0" i="0">
                <a:solidFill>
                  <a:srgbClr val="0F172A"/>
                </a:solidFill>
                <a:latin typeface="Aptos"/>
              </a:defRPr>
            </a:pPr>
            <a:r>
              <a:t>What is one key idea?</a:t>
            </a:r>
          </a:p>
        </p:txBody>
      </p:sp>
      <p:sp>
        <p:nvSpPr>
          <p:cNvPr id="15" name="Rounded Rectangle 14"/>
          <p:cNvSpPr/>
          <p:nvPr/>
        </p:nvSpPr>
        <p:spPr>
          <a:xfrm>
            <a:off x="7635240" y="3630168"/>
            <a:ext cx="4343400"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571231" y="3566160"/>
            <a:ext cx="4343400" cy="1207008"/>
          </a:xfrm>
          <a:prstGeom prst="roundRect">
            <a:avLst/>
          </a:prstGeom>
          <a:solidFill>
            <a:srgbClr val="EEF2FF"/>
          </a:solidFill>
          <a:ln w="1016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571231" y="3566160"/>
            <a:ext cx="73152"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27264" y="3749040"/>
            <a:ext cx="3913632" cy="822960"/>
          </a:xfrm>
          <a:prstGeom prst="rect">
            <a:avLst/>
          </a:prstGeom>
          <a:noFill/>
        </p:spPr>
        <p:txBody>
          <a:bodyPr wrap="square">
            <a:spAutoFit/>
          </a:bodyPr>
          <a:lstStyle/>
          <a:p>
            <a:pPr algn="l">
              <a:defRPr sz="1600" b="0" i="0">
                <a:solidFill>
                  <a:srgbClr val="0F172A"/>
                </a:solidFill>
                <a:latin typeface="Aptos"/>
              </a:defRPr>
            </a:pPr>
            <a:r>
              <a:t>How does it connect to today's topic?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LEARN</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Key ideas and concepts.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Identifying Cyber Risks</a:t>
            </a:r>
          </a:p>
        </p:txBody>
      </p:sp>
      <p:sp>
        <p:nvSpPr>
          <p:cNvPr id="4" name="Rounded Rectangle 3"/>
          <p:cNvSpPr/>
          <p:nvPr/>
        </p:nvSpPr>
        <p:spPr>
          <a:xfrm>
            <a:off x="347472" y="1426464"/>
            <a:ext cx="11640312" cy="517550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Recognize threats to protect yourself</a:t>
            </a:r>
          </a:p>
          <a:p>
            <a:pPr>
              <a:lnSpc>
                <a:spcPct val="125000"/>
              </a:lnSpc>
              <a:spcAft>
                <a:spcPts val="1200"/>
              </a:spcAft>
              <a:defRPr sz="2000">
                <a:solidFill>
                  <a:srgbClr val="0F172A"/>
                </a:solidFill>
                <a:latin typeface="Aptos"/>
              </a:defRPr>
            </a:pPr>
            <a:r>
              <a:t>•  For example, sharing your full birthdate and school publicly can lead to identity theft</a:t>
            </a:r>
          </a:p>
          <a:p>
            <a:pPr>
              <a:lnSpc>
                <a:spcPct val="125000"/>
              </a:lnSpc>
              <a:spcAft>
                <a:spcPts val="1200"/>
              </a:spcAft>
              <a:defRPr sz="2000">
                <a:solidFill>
                  <a:srgbClr val="0F172A"/>
                </a:solidFill>
                <a:latin typeface="Aptos"/>
              </a:defRPr>
            </a:pPr>
            <a:r>
              <a:t>•  Remember, risks can come from strangers, friends, or family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EF2FF"/>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Creating Protective Strategies</a:t>
            </a:r>
          </a:p>
        </p:txBody>
      </p:sp>
      <p:sp>
        <p:nvSpPr>
          <p:cNvPr id="4" name="Rounded Rectangle 3"/>
          <p:cNvSpPr/>
          <p:nvPr/>
        </p:nvSpPr>
        <p:spPr>
          <a:xfrm>
            <a:off x="347472" y="1426464"/>
            <a:ext cx="11640312" cy="5175504"/>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4338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Use strong passwords, privacy settings, and share carefully</a:t>
            </a:r>
          </a:p>
          <a:p>
            <a:pPr>
              <a:lnSpc>
                <a:spcPct val="125000"/>
              </a:lnSpc>
              <a:spcAft>
                <a:spcPts val="1200"/>
              </a:spcAft>
              <a:defRPr sz="2000">
                <a:solidFill>
                  <a:srgbClr val="0F172A"/>
                </a:solidFill>
                <a:latin typeface="Aptos"/>
              </a:defRPr>
            </a:pPr>
            <a:r>
              <a:t>•  For example, set your profile to private and use unique passwords for each account</a:t>
            </a:r>
          </a:p>
          <a:p>
            <a:pPr>
              <a:lnSpc>
                <a:spcPct val="125000"/>
              </a:lnSpc>
              <a:spcAft>
                <a:spcPts val="1200"/>
              </a:spcAft>
              <a:defRPr sz="2000">
                <a:solidFill>
                  <a:srgbClr val="0F172A"/>
                </a:solidFill>
                <a:latin typeface="Aptos"/>
              </a:defRPr>
            </a:pPr>
            <a:r>
              <a:t>•  Avoid using the same password everywhere, even if it’s strong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DFA"/>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  Case Study: App Data Leak</a:t>
            </a:r>
          </a:p>
        </p:txBody>
      </p:sp>
      <p:sp>
        <p:nvSpPr>
          <p:cNvPr id="4" name="Rounded Rectangle 3"/>
          <p:cNvSpPr/>
          <p:nvPr/>
        </p:nvSpPr>
        <p:spPr>
          <a:xfrm>
            <a:off x="347472" y="1426464"/>
            <a:ext cx="11640312" cy="5175504"/>
          </a:xfrm>
          <a:prstGeom prst="roundRect">
            <a:avLst/>
          </a:prstGeom>
          <a:solidFill>
            <a:srgbClr val="99F6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274320" y="1353312"/>
            <a:ext cx="11640312" cy="5175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353312"/>
            <a:ext cx="128016" cy="5175504"/>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85216" y="1664208"/>
            <a:ext cx="11064240" cy="4572000"/>
          </a:xfrm>
          <a:prstGeom prst="rect">
            <a:avLst/>
          </a:prstGeom>
          <a:noFill/>
        </p:spPr>
        <p:txBody>
          <a:bodyPr wrap="square">
            <a:spAutoFit/>
          </a:bodyPr>
          <a:lstStyle/>
          <a:p>
            <a:pPr>
              <a:lnSpc>
                <a:spcPct val="125000"/>
              </a:lnSpc>
              <a:spcAft>
                <a:spcPts val="1200"/>
              </a:spcAft>
              <a:defRPr sz="2000">
                <a:solidFill>
                  <a:srgbClr val="0F172A"/>
                </a:solidFill>
                <a:latin typeface="Aptos"/>
              </a:defRPr>
            </a:pPr>
            <a:r>
              <a:t>→  A popular gaming app collected more personal data than users knew and later leaked it online.</a:t>
            </a:r>
          </a:p>
          <a:p>
            <a:pPr>
              <a:lnSpc>
                <a:spcPct val="125000"/>
              </a:lnSpc>
              <a:spcAft>
                <a:spcPts val="1200"/>
              </a:spcAft>
              <a:defRPr sz="2000">
                <a:solidFill>
                  <a:srgbClr val="0F172A"/>
                </a:solidFill>
                <a:latin typeface="Aptos"/>
              </a:defRPr>
            </a:pPr>
            <a:r>
              <a:t>→  Apps can expose your data if you ignore privacy policies.</a:t>
            </a:r>
          </a:p>
          <a:p>
            <a:pPr>
              <a:lnSpc>
                <a:spcPct val="125000"/>
              </a:lnSpc>
              <a:spcAft>
                <a:spcPts val="1200"/>
              </a:spcAft>
              <a:defRPr sz="2000">
                <a:solidFill>
                  <a:srgbClr val="0F172A"/>
                </a:solidFill>
                <a:latin typeface="Aptos"/>
              </a:defRPr>
            </a:pPr>
            <a:r>
              <a:t>→  Use strong passwords and privacy settings to protect accounts.</a:t>
            </a:r>
          </a:p>
          <a:p>
            <a:pPr>
              <a:lnSpc>
                <a:spcPct val="125000"/>
              </a:lnSpc>
              <a:spcAft>
                <a:spcPts val="1200"/>
              </a:spcAft>
              <a:defRPr sz="2000">
                <a:solidFill>
                  <a:srgbClr val="0F172A"/>
                </a:solidFill>
                <a:latin typeface="Aptos"/>
              </a:defRPr>
            </a:pPr>
            <a:r>
              <a:t>→  Be careful what info apps collect and share.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APPLY</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Put your learning into action.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BEB"/>
        </a:solidFill>
        <a:effectLst/>
      </p:bgPr>
    </p:bg>
    <p:spTree>
      <p:nvGrpSpPr>
        <p:cNvPr id="1" name=""/>
        <p:cNvGrpSpPr/>
        <p:nvPr/>
      </p:nvGrpSpPr>
      <p:grpSpPr/>
      <p:sp>
        <p:nvSpPr>
          <p:cNvPr id="2" name="Rectangle 1"/>
          <p:cNvSpPr/>
          <p:nvPr/>
        </p:nvSpPr>
        <p:spPr>
          <a:xfrm>
            <a:off x="0" y="0"/>
            <a:ext cx="12191695" cy="1298448"/>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46304"/>
            <a:ext cx="11247120" cy="1225295"/>
          </a:xfrm>
          <a:prstGeom prst="rect">
            <a:avLst/>
          </a:prstGeom>
          <a:noFill/>
        </p:spPr>
        <p:txBody>
          <a:bodyPr wrap="square">
            <a:spAutoFit/>
          </a:bodyPr>
          <a:lstStyle/>
          <a:p>
            <a:pPr algn="l">
              <a:defRPr sz="2800" b="1" i="0">
                <a:solidFill>
                  <a:srgbClr val="FFFFFF"/>
                </a:solidFill>
                <a:latin typeface="Aptos Display"/>
              </a:defRPr>
            </a:pPr>
            <a:r>
              <a:t>Create a Cyber Security Plan</a:t>
            </a:r>
          </a:p>
        </p:txBody>
      </p:sp>
      <p:sp>
        <p:nvSpPr>
          <p:cNvPr id="4" name="Rounded Rectangle 3"/>
          <p:cNvSpPr/>
          <p:nvPr/>
        </p:nvSpPr>
        <p:spPr>
          <a:xfrm>
            <a:off x="10058400" y="310896"/>
            <a:ext cx="1828800" cy="4572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B45309"/>
                </a:solidFill>
                <a:latin typeface="Aptos"/>
              </a:defRPr>
            </a:pPr>
            <a:r>
              <a:t>⏱  15 minutes</a:t>
            </a:r>
          </a:p>
        </p:txBody>
      </p:sp>
      <p:sp>
        <p:nvSpPr>
          <p:cNvPr id="5" name="Oval 4"/>
          <p:cNvSpPr/>
          <p:nvPr/>
        </p:nvSpPr>
        <p:spPr>
          <a:xfrm>
            <a:off x="411480" y="1463040"/>
            <a:ext cx="475488" cy="475488"/>
          </a:xfrm>
          <a:prstGeom prst="ellipse">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ptos"/>
              </a:defRPr>
            </a:pPr>
            <a:r>
              <a:t>1</a:t>
            </a:r>
          </a:p>
        </p:txBody>
      </p:sp>
      <p:sp>
        <p:nvSpPr>
          <p:cNvPr id="6" name="TextBox 5"/>
          <p:cNvSpPr txBox="1"/>
          <p:nvPr/>
        </p:nvSpPr>
        <p:spPr>
          <a:xfrm>
            <a:off x="1024128" y="1499616"/>
            <a:ext cx="10881360" cy="530352"/>
          </a:xfrm>
          <a:prstGeom prst="rect">
            <a:avLst/>
          </a:prstGeom>
          <a:noFill/>
        </p:spPr>
        <p:txBody>
          <a:bodyPr wrap="square">
            <a:spAutoFit/>
          </a:bodyPr>
          <a:lstStyle/>
          <a:p>
            <a:pPr algn="l">
              <a:defRPr sz="1800" b="0" i="0">
                <a:solidFill>
                  <a:srgbClr val="0F172A"/>
                </a:solidFill>
                <a:latin typeface="Aptos"/>
              </a:defRPr>
            </a:pPr>
            <a:r>
              <a:t>Imagine you join a new online hobby group</a:t>
            </a:r>
          </a:p>
        </p:txBody>
      </p:sp>
      <p:sp>
        <p:nvSpPr>
          <p:cNvPr id="7" name="Oval 6"/>
          <p:cNvSpPr/>
          <p:nvPr/>
        </p:nvSpPr>
        <p:spPr>
          <a:xfrm>
            <a:off x="411480" y="2340864"/>
            <a:ext cx="475488" cy="475488"/>
          </a:xfrm>
          <a:prstGeom prst="ellipse">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Aptos"/>
              </a:defRPr>
            </a:pPr>
            <a:r>
              <a:t>2</a:t>
            </a:r>
          </a:p>
        </p:txBody>
      </p:sp>
      <p:sp>
        <p:nvSpPr>
          <p:cNvPr id="8" name="TextBox 7"/>
          <p:cNvSpPr txBox="1"/>
          <p:nvPr/>
        </p:nvSpPr>
        <p:spPr>
          <a:xfrm>
            <a:off x="1024128" y="2377440"/>
            <a:ext cx="10881360" cy="530352"/>
          </a:xfrm>
          <a:prstGeom prst="rect">
            <a:avLst/>
          </a:prstGeom>
          <a:noFill/>
        </p:spPr>
        <p:txBody>
          <a:bodyPr wrap="square">
            <a:spAutoFit/>
          </a:bodyPr>
          <a:lstStyle/>
          <a:p>
            <a:pPr algn="l">
              <a:defRPr sz="1800" b="0" i="0">
                <a:solidFill>
                  <a:srgbClr val="0F172A"/>
                </a:solidFill>
                <a:latin typeface="Aptos"/>
              </a:defRPr>
            </a:pPr>
            <a:r>
              <a:t>List 3 risks you might face, create 3 strategies to stay safe, and explain how each strategy reduces risk</a:t>
            </a:r>
          </a:p>
        </p:txBody>
      </p:sp>
      <p:sp>
        <p:nvSpPr>
          <p:cNvPr id="9" name="Rounded Rectangle 8"/>
          <p:cNvSpPr/>
          <p:nvPr/>
        </p:nvSpPr>
        <p:spPr>
          <a:xfrm>
            <a:off x="274320" y="4892040"/>
            <a:ext cx="11640312" cy="1719072"/>
          </a:xfrm>
          <a:prstGeom prst="roundRect">
            <a:avLst/>
          </a:prstGeom>
          <a:solidFill>
            <a:srgbClr val="FDE68A"/>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7200" y="4956048"/>
            <a:ext cx="1481328" cy="411480"/>
          </a:xfrm>
          <a:prstGeom prst="round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Aptos"/>
              </a:defRPr>
            </a:pPr>
            <a:r>
              <a:t>📋 Output</a:t>
            </a:r>
          </a:p>
        </p:txBody>
      </p:sp>
      <p:sp>
        <p:nvSpPr>
          <p:cNvPr id="11" name="TextBox 10"/>
          <p:cNvSpPr txBox="1"/>
          <p:nvPr/>
        </p:nvSpPr>
        <p:spPr>
          <a:xfrm>
            <a:off x="2103120" y="5029200"/>
            <a:ext cx="9692640" cy="594360"/>
          </a:xfrm>
          <a:prstGeom prst="rect">
            <a:avLst/>
          </a:prstGeom>
          <a:noFill/>
        </p:spPr>
        <p:txBody>
          <a:bodyPr wrap="square">
            <a:spAutoFit/>
          </a:bodyPr>
          <a:lstStyle/>
          <a:p>
            <a:pPr algn="l">
              <a:defRPr sz="1400" b="0" i="0">
                <a:solidFill>
                  <a:srgbClr val="0F172A"/>
                </a:solidFill>
                <a:latin typeface="Aptos"/>
              </a:defRPr>
            </a:pPr>
            <a:r>
              <a:t>A written plan with 3 risks, 3 protective strategies, and brief explanations for each.</a:t>
            </a:r>
          </a:p>
        </p:txBody>
      </p:sp>
      <p:sp>
        <p:nvSpPr>
          <p:cNvPr id="12" name="TextBox 11"/>
          <p:cNvSpPr txBox="1"/>
          <p:nvPr/>
        </p:nvSpPr>
        <p:spPr>
          <a:xfrm>
            <a:off x="457200" y="5623560"/>
            <a:ext cx="11338560" cy="502920"/>
          </a:xfrm>
          <a:prstGeom prst="rect">
            <a:avLst/>
          </a:prstGeom>
          <a:noFill/>
        </p:spPr>
        <p:txBody>
          <a:bodyPr wrap="square">
            <a:spAutoFit/>
          </a:bodyPr>
          <a:lstStyle/>
          <a:p>
            <a:pPr algn="l">
              <a:defRPr sz="1300" b="1" i="0">
                <a:solidFill>
                  <a:srgbClr val="B45309"/>
                </a:solidFill>
                <a:latin typeface="Aptos"/>
              </a:defRPr>
            </a:pPr>
            <a:r>
              <a:t>✓  Lists relevant online risks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4338CA"/>
        </a:solidFill>
        <a:effectLst/>
      </p:bgPr>
    </p:bg>
    <p:spTree>
      <p:nvGrpSpPr>
        <p:cNvPr id="1" name=""/>
        <p:cNvGrpSpPr/>
        <p:nvPr/>
      </p:nvGrpSpPr>
      <p:grpSpPr/>
      <p:sp>
        <p:nvSpPr>
          <p:cNvPr id="2" name="Oval 1"/>
          <p:cNvSpPr/>
          <p:nvPr/>
        </p:nvSpPr>
        <p:spPr>
          <a:xfrm>
            <a:off x="-1097280" y="3474720"/>
            <a:ext cx="5029200" cy="50292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961120" y="-1371600"/>
            <a:ext cx="4572000" cy="4572000"/>
          </a:xfrm>
          <a:prstGeom prst="ellipse">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418320" y="4389120"/>
            <a:ext cx="3657600" cy="3657600"/>
          </a:xfrm>
          <a:prstGeom prst="ellipse">
            <a:avLst/>
          </a:prstGeom>
          <a:solidFill>
            <a:srgbClr val="3730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474720" y="3218688"/>
            <a:ext cx="5212080" cy="45720"/>
          </a:xfrm>
          <a:prstGeom prst="rect">
            <a:avLst/>
          </a:prstGeom>
          <a:solidFill>
            <a:srgbClr val="C7D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1280160"/>
            <a:ext cx="12191695" cy="1828800"/>
          </a:xfrm>
          <a:prstGeom prst="rect">
            <a:avLst/>
          </a:prstGeom>
          <a:noFill/>
        </p:spPr>
        <p:txBody>
          <a:bodyPr wrap="square">
            <a:spAutoFit/>
          </a:bodyPr>
          <a:lstStyle/>
          <a:p>
            <a:pPr algn="ctr">
              <a:defRPr sz="8200" b="0" i="0">
                <a:solidFill>
                  <a:srgbClr val="FFFFFF"/>
                </a:solidFill>
                <a:latin typeface="Aptos"/>
              </a:defRPr>
            </a:pPr>
            <a:r>
              <a:t>💬</a:t>
            </a:r>
          </a:p>
        </p:txBody>
      </p:sp>
      <p:sp>
        <p:nvSpPr>
          <p:cNvPr id="7" name="TextBox 6"/>
          <p:cNvSpPr txBox="1"/>
          <p:nvPr/>
        </p:nvSpPr>
        <p:spPr>
          <a:xfrm>
            <a:off x="0" y="3291840"/>
            <a:ext cx="12191695" cy="1463040"/>
          </a:xfrm>
          <a:prstGeom prst="rect">
            <a:avLst/>
          </a:prstGeom>
          <a:noFill/>
        </p:spPr>
        <p:txBody>
          <a:bodyPr wrap="square">
            <a:spAutoFit/>
          </a:bodyPr>
          <a:lstStyle/>
          <a:p>
            <a:pPr algn="ctr">
              <a:defRPr sz="5200" b="1" i="0">
                <a:solidFill>
                  <a:srgbClr val="FFFFFF"/>
                </a:solidFill>
                <a:latin typeface="Aptos Display"/>
              </a:defRPr>
            </a:pPr>
            <a:r>
              <a:t>REFLECT</a:t>
            </a:r>
          </a:p>
        </p:txBody>
      </p:sp>
      <p:sp>
        <p:nvSpPr>
          <p:cNvPr id="8" name="TextBox 7"/>
          <p:cNvSpPr txBox="1"/>
          <p:nvPr/>
        </p:nvSpPr>
        <p:spPr>
          <a:xfrm>
            <a:off x="0" y="4828032"/>
            <a:ext cx="12191695" cy="822960"/>
          </a:xfrm>
          <a:prstGeom prst="rect">
            <a:avLst/>
          </a:prstGeom>
          <a:noFill/>
        </p:spPr>
        <p:txBody>
          <a:bodyPr wrap="square">
            <a:spAutoFit/>
          </a:bodyPr>
          <a:lstStyle/>
          <a:p>
            <a:pPr algn="ctr">
              <a:defRPr sz="1600" b="0" i="0">
                <a:solidFill>
                  <a:srgbClr val="C7D2FE"/>
                </a:solidFill>
                <a:latin typeface="Aptos"/>
              </a:defRPr>
            </a:pPr>
            <a:r>
              <a:t>Review and consolidate your understanding.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389888"/>
          </a:xfrm>
          <a:prstGeom prst="rect">
            <a:avLst/>
          </a:prstGeom>
          <a:solidFill>
            <a:srgbClr val="EE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01168"/>
            <a:ext cx="11247120" cy="987552"/>
          </a:xfrm>
          <a:prstGeom prst="rect">
            <a:avLst/>
          </a:prstGeom>
          <a:noFill/>
        </p:spPr>
        <p:txBody>
          <a:bodyPr wrap="square">
            <a:spAutoFit/>
          </a:bodyPr>
          <a:lstStyle/>
          <a:p>
            <a:pPr algn="l">
              <a:defRPr sz="2800" b="1" i="0">
                <a:solidFill>
                  <a:srgbClr val="4338CA"/>
                </a:solidFill>
                <a:latin typeface="Aptos Display"/>
              </a:defRPr>
            </a:pPr>
            <a:r>
              <a:t>💬  Reflection Questions</a:t>
            </a:r>
          </a:p>
        </p:txBody>
      </p:sp>
      <p:sp>
        <p:nvSpPr>
          <p:cNvPr id="4" name="Rounded Rectangle 3"/>
          <p:cNvSpPr/>
          <p:nvPr/>
        </p:nvSpPr>
        <p:spPr>
          <a:xfrm>
            <a:off x="457200" y="1572768"/>
            <a:ext cx="11365992"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11480" y="1508760"/>
            <a:ext cx="11365992" cy="12070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1508760"/>
            <a:ext cx="100584"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4944" y="1728216"/>
            <a:ext cx="10881360" cy="822960"/>
          </a:xfrm>
          <a:prstGeom prst="rect">
            <a:avLst/>
          </a:prstGeom>
          <a:noFill/>
        </p:spPr>
        <p:txBody>
          <a:bodyPr wrap="square">
            <a:spAutoFit/>
          </a:bodyPr>
          <a:lstStyle/>
          <a:p>
            <a:pPr algn="l">
              <a:defRPr sz="2000" b="0" i="0">
                <a:solidFill>
                  <a:srgbClr val="0F172A"/>
                </a:solidFill>
                <a:latin typeface="Aptos"/>
              </a:defRPr>
            </a:pPr>
            <a:r>
              <a:t>What was the hardest part of making your plan?</a:t>
            </a:r>
          </a:p>
        </p:txBody>
      </p:sp>
      <p:sp>
        <p:nvSpPr>
          <p:cNvPr id="8" name="Rounded Rectangle 7"/>
          <p:cNvSpPr/>
          <p:nvPr/>
        </p:nvSpPr>
        <p:spPr>
          <a:xfrm>
            <a:off x="457200" y="2871216"/>
            <a:ext cx="11365992" cy="1207008"/>
          </a:xfrm>
          <a:prstGeom prst="round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11480" y="2807208"/>
            <a:ext cx="11365992" cy="120700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2807208"/>
            <a:ext cx="100584" cy="1207008"/>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3026664"/>
            <a:ext cx="10881360" cy="822960"/>
          </a:xfrm>
          <a:prstGeom prst="rect">
            <a:avLst/>
          </a:prstGeom>
          <a:noFill/>
        </p:spPr>
        <p:txBody>
          <a:bodyPr wrap="square">
            <a:spAutoFit/>
          </a:bodyPr>
          <a:lstStyle/>
          <a:p>
            <a:pPr algn="l">
              <a:defRPr sz="2000" b="0" i="0">
                <a:solidFill>
                  <a:srgbClr val="0F172A"/>
                </a:solidFill>
                <a:latin typeface="Aptos"/>
              </a:defRPr>
            </a:pPr>
            <a:r>
              <a:t>How will you use these strategies in your online life?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CF5"/>
        </a:solidFill>
        <a:effectLst/>
      </p:bgPr>
    </p:bg>
    <p:spTree>
      <p:nvGrpSpPr>
        <p:cNvPr id="1" name=""/>
        <p:cNvGrpSpPr/>
        <p:nvPr/>
      </p:nvGrpSpPr>
      <p:grpSpPr/>
      <p:sp>
        <p:nvSpPr>
          <p:cNvPr id="2" name="Rectangle 1"/>
          <p:cNvSpPr/>
          <p:nvPr/>
        </p:nvSpPr>
        <p:spPr>
          <a:xfrm>
            <a:off x="0" y="0"/>
            <a:ext cx="12191695" cy="1261872"/>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37160"/>
            <a:ext cx="10972800" cy="1005840"/>
          </a:xfrm>
          <a:prstGeom prst="rect">
            <a:avLst/>
          </a:prstGeom>
          <a:noFill/>
        </p:spPr>
        <p:txBody>
          <a:bodyPr wrap="square">
            <a:spAutoFit/>
          </a:bodyPr>
          <a:lstStyle/>
          <a:p>
            <a:pPr algn="l">
              <a:defRPr sz="2400" b="1" i="0">
                <a:solidFill>
                  <a:srgbClr val="FFFFFF"/>
                </a:solidFill>
                <a:latin typeface="Aptos Display"/>
              </a:defRPr>
            </a:pPr>
            <a:r>
              <a:t>📝  Teacher Notes</a:t>
            </a:r>
          </a:p>
        </p:txBody>
      </p:sp>
      <p:sp>
        <p:nvSpPr>
          <p:cNvPr id="4" name="TextBox 3"/>
          <p:cNvSpPr txBox="1"/>
          <p:nvPr/>
        </p:nvSpPr>
        <p:spPr>
          <a:xfrm>
            <a:off x="0" y="2286000"/>
            <a:ext cx="12191695" cy="2560320"/>
          </a:xfrm>
          <a:prstGeom prst="rect">
            <a:avLst/>
          </a:prstGeom>
          <a:noFill/>
        </p:spPr>
        <p:txBody>
          <a:bodyPr wrap="square">
            <a:spAutoFit/>
          </a:bodyPr>
          <a:lstStyle/>
          <a:p>
            <a:pPr algn="ctr">
              <a:defRPr sz="9600" b="1" i="0">
                <a:solidFill>
                  <a:srgbClr val="FDE68A"/>
                </a:solidFill>
                <a:latin typeface="Aptos Display"/>
              </a:defRPr>
            </a:pPr>
            <a:r>
              <a:t>TEACHER</a:t>
            </a:r>
          </a:p>
        </p:txBody>
      </p:sp>
      <p:sp>
        <p:nvSpPr>
          <p:cNvPr id="5" name="TextBox 4"/>
          <p:cNvSpPr txBox="1"/>
          <p:nvPr/>
        </p:nvSpPr>
        <p:spPr>
          <a:xfrm>
            <a:off x="502920" y="1389888"/>
            <a:ext cx="11247120" cy="5120640"/>
          </a:xfrm>
          <a:prstGeom prst="rect">
            <a:avLst/>
          </a:prstGeom>
          <a:noFill/>
        </p:spPr>
        <p:txBody>
          <a:bodyPr wrap="square">
            <a:spAutoFit/>
          </a:bodyPr>
          <a:lstStyle/>
          <a:p>
            <a:pPr>
              <a:lnSpc>
                <a:spcPct val="125000"/>
              </a:lnSpc>
              <a:spcAft>
                <a:spcPts val="800"/>
              </a:spcAft>
              <a:defRPr sz="1700">
                <a:solidFill>
                  <a:srgbClr val="0F172A"/>
                </a:solidFill>
                <a:latin typeface="Aptos"/>
              </a:defRPr>
            </a:pPr>
            <a:r>
              <a:t>•  Key misconceptions to watch for:</a:t>
            </a:r>
          </a:p>
          <a:p>
            <a:pPr>
              <a:lnSpc>
                <a:spcPct val="125000"/>
              </a:lnSpc>
              <a:spcAft>
                <a:spcPts val="800"/>
              </a:spcAft>
              <a:defRPr sz="1700">
                <a:solidFill>
                  <a:srgbClr val="0F172A"/>
                </a:solidFill>
                <a:latin typeface="Aptos"/>
              </a:defRPr>
            </a:pPr>
            <a:r>
              <a:t>•  Friends and family can’t cause cyber problems.</a:t>
            </a:r>
          </a:p>
          <a:p>
            <a:pPr>
              <a:lnSpc>
                <a:spcPct val="125000"/>
              </a:lnSpc>
              <a:spcAft>
                <a:spcPts val="800"/>
              </a:spcAft>
              <a:defRPr sz="1700">
                <a:solidFill>
                  <a:srgbClr val="0F172A"/>
                </a:solidFill>
                <a:latin typeface="Aptos"/>
              </a:defRPr>
            </a:pPr>
            <a:r>
              <a:t>•  Using one strong password for all accounts is safe.</a:t>
            </a:r>
          </a:p>
          <a:p>
            <a:pPr>
              <a:lnSpc>
                <a:spcPct val="125000"/>
              </a:lnSpc>
              <a:spcAft>
                <a:spcPts val="800"/>
              </a:spcAft>
              <a:defRPr sz="1700">
                <a:solidFill>
                  <a:srgbClr val="0F172A"/>
                </a:solidFill>
                <a:latin typeface="Aptos"/>
              </a:defRPr>
            </a:pPr>
            <a:r>
              <a:t>•  Privacy settings aren’t needed if you trust contacts.</a:t>
            </a:r>
          </a:p>
          <a:p>
            <a:pPr>
              <a:lnSpc>
                <a:spcPct val="125000"/>
              </a:lnSpc>
              <a:spcAft>
                <a:spcPts val="800"/>
              </a:spcAft>
              <a:defRPr sz="1700">
                <a:solidFill>
                  <a:srgbClr val="0F172A"/>
                </a:solidFill>
                <a:latin typeface="Aptos"/>
              </a:defRPr>
            </a:pPr>
            <a:r>
              <a:t>•  Differentiation ideas:</a:t>
            </a:r>
          </a:p>
          <a:p>
            <a:pPr>
              <a:lnSpc>
                <a:spcPct val="125000"/>
              </a:lnSpc>
              <a:spcAft>
                <a:spcPts val="800"/>
              </a:spcAft>
              <a:defRPr sz="1700">
                <a:solidFill>
                  <a:srgbClr val="0F172A"/>
                </a:solidFill>
                <a:latin typeface="Aptos"/>
              </a:defRPr>
            </a:pPr>
            <a:r>
              <a:t>•  Offer sentence starters and plan templates for support.</a:t>
            </a:r>
          </a:p>
          <a:p>
            <a:pPr>
              <a:lnSpc>
                <a:spcPct val="125000"/>
              </a:lnSpc>
              <a:spcAft>
                <a:spcPts val="800"/>
              </a:spcAft>
              <a:defRPr sz="1700">
                <a:solidFill>
                  <a:srgbClr val="0F172A"/>
                </a:solidFill>
                <a:latin typeface="Aptos"/>
              </a:defRPr>
            </a:pPr>
            <a:r>
              <a:t>•  Ask advanced students to add a breach response plan.</a:t>
            </a:r>
          </a:p>
          <a:p>
            <a:pPr>
              <a:lnSpc>
                <a:spcPct val="125000"/>
              </a:lnSpc>
              <a:spcAft>
                <a:spcPts val="800"/>
              </a:spcAft>
              <a:defRPr sz="1700">
                <a:solidFill>
                  <a:srgbClr val="0F172A"/>
                </a:solidFill>
                <a:latin typeface="Aptos"/>
              </a:defRPr>
            </a:pPr>
            <a:r>
              <a:t>•  Extension ideas: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