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sets the stage for our deep dive into identifying phishing and social engineering. Use this moment to build curiosity by saying something like, 'Today we're going to investigate how these scams work and how to spot them before they cause trouble.' Keep it brief and energetic to smoothly transition from the introduction into the core content.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Start by reading the scenario aloud and ask students to put themselves in that situation. Encourage them to share if they’ve seen similar messages or felt unsure about an email’s authenticity. Prompt them with, 'What would you do first if you got this email?' This helps activate prior knowledge and sets up the importance of spotting phishing early. Watch out for students who might assume official-looking emails are always safe—challenge that idea early.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tell students to listen for one key idea about phishing or social engineering that stands out. After the video, ask, 'What was one thing you learned that ties back to our question about spotting scams?' This keeps them actively engaged and connects the video to the lesson’s focus. Be ready to clarify any confusing terms or examples mentioned.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introduces essential concepts for the lesson. Briefly explain that you'll cover what phishing and social engineering are, how to spot them, and practical ways to protect themselves. Use this as a roadmap so students know what to expect. Emphasise that understanding these ideas will help them stay safer online.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phishing clearly as fake messages pretending to be trustworthy, aiming to steal personal info. Use the example of a game email asking for a password—something relatable. Highlight that phishing isn’t always sloppy; some emails look very professional, which is a common misconception. Ask, 'Why do you think scammers make their emails look real?' to prompt critical thinking.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Describe social engineering as psychological tricks to get you to share private info, often by pretending to be someone you trust. Use the example of tech support calls asking for passwords—students might find this familiar. Point out that sometimes even friends’ accounts can be hacked and used to trick you, which can be surprising. Ask, 'Have you ever received a strange message from a friend’s account?' to connect personally.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Focus on practical warning signs: urgent language, odd email addresses, suspicious links, and unexpected requests. Give a clear example like an urgent message demanding personal info or links that don’t match official sites. Emphasise that urgency is a common scam tactic to rush decisions. Ask, 'What might you check if you get a message asking for personal details urgently?' to encourage cautious behaviour.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Stress the importance of never sharing passwords or personal details over phone or email. Explain that the safest move is to contact the company directly using official contact info, not the info in the suspicious message. Reinforce that when unsure, it’s better not to reply or click any links. Highlight this as a key safety habit. You might ask, 'What’s a safe way to check if a message is real?' to guide responses.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this real-world example to show how social engineering can cause big problems, even on trusted platforms like Twitter. Help students unpack how hackers tricked employees to post fake Bitcoin requests, affecting many users. Emphasise that no one is completely immune, so questioning unexpected requests is crucial. Ask, 'Why do you think even big companies can be tricked like this?' to deepen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Introduce the activity phase by explaining that students will now apply what they’ve learned by creating a safety checklist. Encourage them to think practically about what steps they would take when faced with suspicious messages. Emphasise teamwork and clear communication in pairs. Set the tone as an opportunity to make something useful they can actually 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Explain the task clearly: in pairs, students list at least five practical steps for spotting phishing and social engineering and how to respond safely. Remind them to cover emails, calls, and social media messages. Success means a simple, clear checklist that anyone could follow. Circulate to prompt deeper thinking, check understanding, and support clarity. Encourage students to use everyday language, not jargon.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signals time to review and consolidate learning. Encourage students to reflect on their checklist work and the lesson as a whole. Use this pause to prepare them for the reflection questions and to bring their focus back after the activity.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Lead a discussion using the reflection questions. Ask students to share how confident they feel now about spotting phishing and what changes they plan to make when they encounter suspicious messages. This checks understanding and helps students personalise the lesson. Be ready to support students who are unsure or need reassurance.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Highlight key misconceptions to watch for, especially the belief that phishing always has poor spelling or that official-looking messages are safe. Encourage teachers to provide simpler examples for those who struggle and challenge advanced students with current scam research. Suggest extensions like investigating recent scams and prevention methods to deepen learning for interested students.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03</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Spotting Phishing &amp; Scams</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Cyber Security &amp; Digital Footprints: Unit 1 – Protecting Yourself Online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03</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Define phishing and social engineering</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Recognize common phishing signs</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Use strategies to avoid social engineering tricks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can I spot and avoid phishing and social engineering online?</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 get an urgent email from your 'bank' asking to verify your account now to avoid lockout</a:t>
            </a:r>
            <a:br/>
            <a:br/>
            <a:r>
              <a:t>It looks official but feels suspicious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is Phishing?</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Phishing is fake messages pretending to be trustworthy to steal info</a:t>
            </a:r>
          </a:p>
          <a:p>
            <a:pPr>
              <a:lnSpc>
                <a:spcPct val="125000"/>
              </a:lnSpc>
              <a:spcAft>
                <a:spcPts val="1200"/>
              </a:spcAft>
              <a:defRPr sz="2000">
                <a:solidFill>
                  <a:srgbClr val="0F172A"/>
                </a:solidFill>
                <a:latin typeface="Aptos"/>
              </a:defRPr>
            </a:pPr>
            <a:r>
              <a:t>•  For example, an email from a game asking for your password to fix a problem</a:t>
            </a:r>
          </a:p>
          <a:p>
            <a:pPr>
              <a:lnSpc>
                <a:spcPct val="125000"/>
              </a:lnSpc>
              <a:spcAft>
                <a:spcPts val="1200"/>
              </a:spcAft>
              <a:defRPr sz="2000">
                <a:solidFill>
                  <a:srgbClr val="0F172A"/>
                </a:solidFill>
                <a:latin typeface="Aptos"/>
              </a:defRPr>
            </a:pPr>
            <a:r>
              <a:t>•  Not all phishing emails have spelling mistakes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is Social Engineering?</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Social engineering tricks you into sharing private info by pretending to be someone you trust</a:t>
            </a:r>
          </a:p>
          <a:p>
            <a:pPr>
              <a:lnSpc>
                <a:spcPct val="125000"/>
              </a:lnSpc>
              <a:spcAft>
                <a:spcPts val="1200"/>
              </a:spcAft>
              <a:defRPr sz="2000">
                <a:solidFill>
                  <a:srgbClr val="0F172A"/>
                </a:solidFill>
                <a:latin typeface="Aptos"/>
              </a:defRPr>
            </a:pPr>
            <a:r>
              <a:t>•  For example, a call from 'tech support' asking for your password</a:t>
            </a:r>
          </a:p>
          <a:p>
            <a:pPr>
              <a:lnSpc>
                <a:spcPct val="125000"/>
              </a:lnSpc>
              <a:spcAft>
                <a:spcPts val="1200"/>
              </a:spcAft>
              <a:defRPr sz="2000">
                <a:solidFill>
                  <a:srgbClr val="0F172A"/>
                </a:solidFill>
                <a:latin typeface="Aptos"/>
              </a:defRPr>
            </a:pPr>
            <a:r>
              <a:t>•  Sometimes friends’ accounts are used to trick you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Phishing Warning Signs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Watch for urgent language, suspicious links, odd email addresses, and unexpected requests</a:t>
            </a:r>
          </a:p>
          <a:p>
            <a:pPr>
              <a:lnSpc>
                <a:spcPct val="125000"/>
              </a:lnSpc>
              <a:spcAft>
                <a:spcPts val="1200"/>
              </a:spcAft>
              <a:defRPr sz="2000">
                <a:solidFill>
                  <a:srgbClr val="0F172A"/>
                </a:solidFill>
                <a:latin typeface="Aptos"/>
              </a:defRPr>
            </a:pPr>
            <a:r>
              <a:t>•  For example, a message asking for personal info immediately or links that don’t match the official site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Avoid Social Tricks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Never share passwords or personal info via phone or email</a:t>
            </a:r>
          </a:p>
          <a:p>
            <a:pPr>
              <a:lnSpc>
                <a:spcPct val="125000"/>
              </a:lnSpc>
              <a:spcAft>
                <a:spcPts val="1200"/>
              </a:spcAft>
              <a:defRPr sz="2000">
                <a:solidFill>
                  <a:srgbClr val="0F172A"/>
                </a:solidFill>
                <a:latin typeface="Aptos"/>
              </a:defRPr>
            </a:pPr>
            <a:r>
              <a:t>•  Always verify by contacting the company directly</a:t>
            </a:r>
          </a:p>
          <a:p>
            <a:pPr>
              <a:lnSpc>
                <a:spcPct val="125000"/>
              </a:lnSpc>
              <a:spcAft>
                <a:spcPts val="1200"/>
              </a:spcAft>
              <a:defRPr sz="2000">
                <a:solidFill>
                  <a:srgbClr val="0F172A"/>
                </a:solidFill>
                <a:latin typeface="Aptos"/>
              </a:defRPr>
            </a:pPr>
            <a:r>
              <a:t>•  If unsure, don’t reply or click links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2020 Twitter Bitcoin Scam</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Hackers used social engineering to access Twitter employee accounts and posted fake tweets asking followers to send Bitcoin</a:t>
            </a:r>
          </a:p>
          <a:p>
            <a:pPr>
              <a:lnSpc>
                <a:spcPct val="125000"/>
              </a:lnSpc>
              <a:spcAft>
                <a:spcPts val="1200"/>
              </a:spcAft>
              <a:defRPr sz="2000">
                <a:solidFill>
                  <a:srgbClr val="0F172A"/>
                </a:solidFill>
                <a:latin typeface="Aptos"/>
              </a:defRPr>
            </a:pPr>
            <a:r>
              <a:t>→  Social engineering can cause large scams affecting many users.</a:t>
            </a:r>
          </a:p>
          <a:p>
            <a:pPr>
              <a:lnSpc>
                <a:spcPct val="125000"/>
              </a:lnSpc>
              <a:spcAft>
                <a:spcPts val="1200"/>
              </a:spcAft>
              <a:defRPr sz="2000">
                <a:solidFill>
                  <a:srgbClr val="0F172A"/>
                </a:solidFill>
                <a:latin typeface="Aptos"/>
              </a:defRPr>
            </a:pPr>
            <a:r>
              <a:t>→  Even trusted platforms are vulnerable if employees are tricked.</a:t>
            </a:r>
          </a:p>
          <a:p>
            <a:pPr>
              <a:lnSpc>
                <a:spcPct val="125000"/>
              </a:lnSpc>
              <a:spcAft>
                <a:spcPts val="1200"/>
              </a:spcAft>
              <a:defRPr sz="2000">
                <a:solidFill>
                  <a:srgbClr val="0F172A"/>
                </a:solidFill>
                <a:latin typeface="Aptos"/>
              </a:defRPr>
            </a:pPr>
            <a:r>
              <a:t>→  Always question unexpected requests, even from known sources.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Make a Safety Checklist</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In pairs, list 5+ clear steps to follow when you get suspicious emails, calls, or messages</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Include how to spot phishing and social engineering and how to respond safely</a:t>
            </a:r>
          </a:p>
        </p:txBody>
      </p:sp>
      <p:sp>
        <p:nvSpPr>
          <p:cNvPr id="9" name="Rounded Rectangle 8"/>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1" name="TextBox 10"/>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clear, easy-to-use checklist with practical tips for emails and phone/social media messages.</a:t>
            </a:r>
          </a:p>
        </p:txBody>
      </p:sp>
      <p:sp>
        <p:nvSpPr>
          <p:cNvPr id="12" name="TextBox 11"/>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Checklist has 5 or more practical tips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How confident are you spotting phishing now?</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What will you do differently with suspicious messages?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Phishing emails always have poor spelling or grammar.</a:t>
            </a:r>
          </a:p>
          <a:p>
            <a:pPr>
              <a:lnSpc>
                <a:spcPct val="125000"/>
              </a:lnSpc>
              <a:spcAft>
                <a:spcPts val="800"/>
              </a:spcAft>
              <a:defRPr sz="1700">
                <a:solidFill>
                  <a:srgbClr val="0F172A"/>
                </a:solidFill>
                <a:latin typeface="Aptos"/>
              </a:defRPr>
            </a:pPr>
            <a:r>
              <a:t>•  Only strangers try to trick you online.</a:t>
            </a:r>
          </a:p>
          <a:p>
            <a:pPr>
              <a:lnSpc>
                <a:spcPct val="125000"/>
              </a:lnSpc>
              <a:spcAft>
                <a:spcPts val="800"/>
              </a:spcAft>
              <a:defRPr sz="1700">
                <a:solidFill>
                  <a:srgbClr val="0F172A"/>
                </a:solidFill>
                <a:latin typeface="Aptos"/>
              </a:defRPr>
            </a:pPr>
            <a:r>
              <a:t>•  If a message looks official, it’s safe.</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Give simpler phishing examples to students needing support.</a:t>
            </a:r>
          </a:p>
          <a:p>
            <a:pPr>
              <a:lnSpc>
                <a:spcPct val="125000"/>
              </a:lnSpc>
              <a:spcAft>
                <a:spcPts val="800"/>
              </a:spcAft>
              <a:defRPr sz="1700">
                <a:solidFill>
                  <a:srgbClr val="0F172A"/>
                </a:solidFill>
                <a:latin typeface="Aptos"/>
              </a:defRPr>
            </a:pPr>
            <a:r>
              <a:t>•  Ask advanced students to research recent phishing scams.</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