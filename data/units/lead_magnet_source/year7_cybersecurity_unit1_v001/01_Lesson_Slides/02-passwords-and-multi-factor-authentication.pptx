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briefly frame the next phase of the lesson and signal the shift in focus. This slide marks the start of our investigation into online security, especially around passwords and MFA. Use this moment to set the tone—explain that we'll dig into why weak passwords cause problems and how adding layers of protection helps. Smoothly transition by saying something like, 'First, let’s put ourselves in a real situation to see why this matters.'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curiosity here and get students predicting before you explain anything. Kick off with this scenario to spark curiosity and empathy. Ask students to imagine how it feels if someone reads their private diary just because of a simple password. Encourage them to think about how such a breach could have been prevented. Watch for students who might think '1234' is fine because it's easy to remember — challenge that assumption gently. You could ask, 'What would make a password harder to guess here?'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playing the video, tell students exactly what key idea or pattern they should listen for. Before playing the video, tell students to focus on one key idea about passwords or MFA that sticks with them. After watching, ask them to share what stood out and how it connects to keeping their info safe online. This primes them to link the video content with today’s lesson. Be ready to clarify if students confuse MFA with just passwords or think MFA is complicated.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briefly frame the next phase of the lesson and signal the shift in focus. This is the bridge into the main content—explain that now we’ll unpack the key concepts that keep our online info safe. Keep it brief but energised—say something like, 'Let’s break down what makes a password strong and why MFA is a game changer.' This sets a clear learning goal and prepares students for detailed examples ahead.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the explanation tight here, then check understanding with a quick example or comparison. Explain that strong passwords are like strong locks—they need a mix of letters, numbers, and symbols to be tough to crack. Use the example on the slide to compare a weak password like 'password' with a stronger one like 'P@ssw0rd123!'. Highlight common misconceptions, like thinking a simple word or a repeating number sequence is secure. Prompt students to think about why adding symbols and numbers helps. You might ask, 'Why do you think hackers can guess simple passwords so quickly?'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the explanation tight here, then check understanding with a quick example or comparison. Clarify that MFA adds another layer of security beyond just the password, like a double lock. Use the example of receiving a code on your phone after typing your password to illustrate this. Emphasise that even if someone steals the password, they can’t get in without the second factor. Watch for students who might say MFA is too hard or unnecessary—remind them it’s about protecting what’s important. You could ask, 'Can anyone think of a time when MFA could have stopped a problem?'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example to connect the concept to a real system students might already know. Use this real-world example to make the lesson relatable—social media is something students use daily. Discuss why easy passwords make accounts vulnerable and how MFA can save the day. Encourage students to share if they’ve heard of or experienced social media hacks. Help them see that strong passwords and MFA protect not just info but their reputation and friendships online.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briefly frame the next phase of the lesson and signal the shift in focus. This slide signals it’s time to apply what we’ve learned in a hands-on way. Briefly explain that students will work in pairs to create strong passwords and plan MFA steps for an app they know. Encourage collaboration and discussion to deepen understanding. Transition by saying, 'Let’s put our ideas into practice and become password pros!'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Launch the task clearly, then circulate to check reasoning rather than just completion. When launching the activity, make sure students understand the criteria: passwords must be strong (8+ characters, mixed types) and the MFA steps clear and accurate. Circulate to check that pairs aren’t just guessing but thinking critically about password strength and MFA benefits. Prompt students struggling with MFA steps to check official app support pages or guide them through an example. Success means clear, practical passwords and step-by-step MFA instructions they could actually follow.</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briefly frame the next phase of the lesson and signal the shift in focus. This slide invites students to pause and reflect on what they’ve learned. Use it to gather their thoughts and prepare for the reflection questions ahead. You might say, 'Let’s take a moment to think about how passwords and MFA really protect us.' This helps consolidate learning before deeper discussion.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moment to check what students actually understand, not just what they remember. Facilitate a class discussion using these questions to check understanding and encourage personal connection. For the risks of weak passwords, expect answers like hacking or privacy loss. When discussing MFA challenges, watch for concerns about tech access or forgetting codes. For helping others, encourage ideas like sharing tips or setting up MFA together. Use responses to identify any lingering misconceptions or barriers.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Treat this slide as a quick teaching reminder before or during delivery. Use this slide as a quick reminder of key misconceptions to watch for during the lesson, like thinking common words are strong passwords or that MFA isn’t essential. For differentiation, prepare password strength tools or visuals of MFA methods to support diverse learners. If you have time, encourage extensions like researching real hacks or creating educational posters, which deepen understanding and empower students to share knowledge.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858000" cy="6858000"/>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793992" y="0"/>
            <a:ext cx="128016" cy="6858000"/>
          </a:xfrm>
          <a:prstGeom prst="rect">
            <a:avLst/>
          </a:prstGeom>
          <a:solidFill>
            <a:srgbClr val="373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560320"/>
            <a:ext cx="4572000" cy="5029200"/>
          </a:xfrm>
          <a:prstGeom prst="rect">
            <a:avLst/>
          </a:prstGeom>
          <a:noFill/>
        </p:spPr>
        <p:txBody>
          <a:bodyPr wrap="square">
            <a:spAutoFit/>
          </a:bodyPr>
          <a:lstStyle/>
          <a:p>
            <a:pPr algn="ctr">
              <a:defRPr sz="21000" b="1" i="0">
                <a:solidFill>
                  <a:srgbClr val="3730A3"/>
                </a:solidFill>
                <a:latin typeface="Aptos Display"/>
              </a:defRPr>
            </a:pPr>
            <a:r>
              <a:t>02</a:t>
            </a:r>
          </a:p>
        </p:txBody>
      </p:sp>
      <p:sp>
        <p:nvSpPr>
          <p:cNvPr id="5" name="Rectangle 4"/>
          <p:cNvSpPr/>
          <p:nvPr/>
        </p:nvSpPr>
        <p:spPr>
          <a:xfrm>
            <a:off x="502920" y="1234440"/>
            <a:ext cx="2377440" cy="73152"/>
          </a:xfrm>
          <a:prstGeom prst="rect">
            <a:avLst/>
          </a:prstGeom>
          <a:solidFill>
            <a:srgbClr val="FDE6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481328"/>
            <a:ext cx="6080760" cy="3108960"/>
          </a:xfrm>
          <a:prstGeom prst="rect">
            <a:avLst/>
          </a:prstGeom>
          <a:noFill/>
        </p:spPr>
        <p:txBody>
          <a:bodyPr wrap="square">
            <a:spAutoFit/>
          </a:bodyPr>
          <a:lstStyle/>
          <a:p>
            <a:pPr algn="l">
              <a:defRPr sz="4200" b="1" i="0">
                <a:solidFill>
                  <a:srgbClr val="FFFFFF"/>
                </a:solidFill>
                <a:latin typeface="Aptos Display"/>
              </a:defRPr>
            </a:pPr>
            <a:r>
              <a:t>Passwords &amp; MFA</a:t>
            </a:r>
          </a:p>
        </p:txBody>
      </p:sp>
      <p:sp>
        <p:nvSpPr>
          <p:cNvPr id="7" name="TextBox 6"/>
          <p:cNvSpPr txBox="1"/>
          <p:nvPr/>
        </p:nvSpPr>
        <p:spPr>
          <a:xfrm>
            <a:off x="502920" y="4572000"/>
            <a:ext cx="5943600" cy="502920"/>
          </a:xfrm>
          <a:prstGeom prst="rect">
            <a:avLst/>
          </a:prstGeom>
          <a:noFill/>
        </p:spPr>
        <p:txBody>
          <a:bodyPr wrap="square">
            <a:spAutoFit/>
          </a:bodyPr>
          <a:lstStyle/>
          <a:p>
            <a:pPr algn="l">
              <a:defRPr sz="1400" b="0" i="0">
                <a:solidFill>
                  <a:srgbClr val="C7D2FE"/>
                </a:solidFill>
                <a:latin typeface="Aptos"/>
              </a:defRPr>
            </a:pPr>
            <a:r>
              <a:t>Cyber Security &amp; Digital Footprints: Unit 1 – Protecting Yourself Online</a:t>
            </a:r>
          </a:p>
        </p:txBody>
      </p:sp>
      <p:sp>
        <p:nvSpPr>
          <p:cNvPr id="8" name="Rounded Rectangle 7"/>
          <p:cNvSpPr/>
          <p:nvPr/>
        </p:nvSpPr>
        <p:spPr>
          <a:xfrm>
            <a:off x="502920" y="6053328"/>
            <a:ext cx="1755648" cy="47548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4338CA"/>
                </a:solidFill>
                <a:latin typeface="Aptos"/>
              </a:defRPr>
            </a:pPr>
            <a:r>
              <a:t>Lesson 02</a:t>
            </a:r>
          </a:p>
        </p:txBody>
      </p:sp>
      <p:sp>
        <p:nvSpPr>
          <p:cNvPr id="9" name="Rectangle 8"/>
          <p:cNvSpPr/>
          <p:nvPr/>
        </p:nvSpPr>
        <p:spPr>
          <a:xfrm>
            <a:off x="6858000" y="0"/>
            <a:ext cx="5333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229600" y="0"/>
            <a:ext cx="3200400" cy="3200400"/>
          </a:xfrm>
          <a:prstGeom prst="ellipse">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424160" y="-365760"/>
            <a:ext cx="2103120" cy="2103120"/>
          </a:xfrm>
          <a:prstGeom prst="ellipse">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772400" y="3840480"/>
            <a:ext cx="2560320" cy="2560320"/>
          </a:xfrm>
          <a:prstGeom prst="ellipse">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789920" y="4754880"/>
            <a:ext cx="1554480" cy="1554480"/>
          </a:xfrm>
          <a:prstGeom prst="ellipse">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114032" y="3246120"/>
            <a:ext cx="4828032" cy="457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64748B"/>
                </a:solidFill>
                <a:latin typeface="Aptos"/>
              </a:defRPr>
            </a:pPr>
            <a:r>
              <a:t>Lower Secondary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0"/>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9144000" cy="804672"/>
          </a:xfrm>
          <a:prstGeom prst="rect">
            <a:avLst/>
          </a:prstGeom>
          <a:noFill/>
        </p:spPr>
        <p:txBody>
          <a:bodyPr wrap="square">
            <a:spAutoFit/>
          </a:bodyPr>
          <a:lstStyle/>
          <a:p>
            <a:pPr algn="l">
              <a:defRPr sz="3000" b="1" i="0">
                <a:solidFill>
                  <a:srgbClr val="FFFFFF"/>
                </a:solidFill>
                <a:latin typeface="Aptos Display"/>
              </a:defRPr>
            </a:pPr>
            <a:r>
              <a:t>Learning Objectives</a:t>
            </a:r>
          </a:p>
        </p:txBody>
      </p:sp>
      <p:sp>
        <p:nvSpPr>
          <p:cNvPr id="4" name="TextBox 3"/>
          <p:cNvSpPr txBox="1"/>
          <p:nvPr/>
        </p:nvSpPr>
        <p:spPr>
          <a:xfrm>
            <a:off x="502920" y="896112"/>
            <a:ext cx="9144000" cy="438912"/>
          </a:xfrm>
          <a:prstGeom prst="rect">
            <a:avLst/>
          </a:prstGeom>
          <a:noFill/>
        </p:spPr>
        <p:txBody>
          <a:bodyPr wrap="square">
            <a:spAutoFit/>
          </a:bodyPr>
          <a:lstStyle/>
          <a:p>
            <a:pPr algn="l">
              <a:defRPr sz="1300" b="0" i="1">
                <a:solidFill>
                  <a:srgbClr val="C7D2FE"/>
                </a:solidFill>
                <a:latin typeface="Aptos"/>
              </a:defRPr>
            </a:pPr>
            <a:r>
              <a:t>By the end of this lesson, you will be able to:</a:t>
            </a:r>
          </a:p>
        </p:txBody>
      </p:sp>
      <p:sp>
        <p:nvSpPr>
          <p:cNvPr id="5" name="Rounded Rectangle 4"/>
          <p:cNvSpPr/>
          <p:nvPr/>
        </p:nvSpPr>
        <p:spPr>
          <a:xfrm>
            <a:off x="457200" y="1627632"/>
            <a:ext cx="11365992" cy="914400"/>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11480" y="1572768"/>
            <a:ext cx="11365992" cy="914400"/>
          </a:xfrm>
          <a:prstGeom prst="round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572768"/>
            <a:ext cx="109728" cy="914400"/>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755648"/>
            <a:ext cx="475488" cy="530352"/>
          </a:xfrm>
          <a:prstGeom prst="rect">
            <a:avLst/>
          </a:prstGeom>
          <a:noFill/>
        </p:spPr>
        <p:txBody>
          <a:bodyPr wrap="square">
            <a:spAutoFit/>
          </a:bodyPr>
          <a:lstStyle/>
          <a:p>
            <a:pPr algn="l">
              <a:defRPr sz="2600" b="1" i="0">
                <a:solidFill>
                  <a:srgbClr val="4338CA"/>
                </a:solidFill>
                <a:latin typeface="Aptos Display"/>
              </a:defRPr>
            </a:pPr>
            <a:r>
              <a:t>1</a:t>
            </a:r>
          </a:p>
        </p:txBody>
      </p:sp>
      <p:sp>
        <p:nvSpPr>
          <p:cNvPr id="9" name="TextBox 8"/>
          <p:cNvSpPr txBox="1"/>
          <p:nvPr/>
        </p:nvSpPr>
        <p:spPr>
          <a:xfrm>
            <a:off x="1298448" y="1709928"/>
            <a:ext cx="10149840" cy="713232"/>
          </a:xfrm>
          <a:prstGeom prst="rect">
            <a:avLst/>
          </a:prstGeom>
          <a:noFill/>
        </p:spPr>
        <p:txBody>
          <a:bodyPr wrap="square">
            <a:spAutoFit/>
          </a:bodyPr>
          <a:lstStyle/>
          <a:p>
            <a:pPr algn="l">
              <a:defRPr sz="2000" b="0" i="0">
                <a:solidFill>
                  <a:srgbClr val="0F172A"/>
                </a:solidFill>
                <a:latin typeface="Aptos"/>
              </a:defRPr>
            </a:pPr>
            <a:r>
              <a:t>Identify features of strong passwords and why they matter.</a:t>
            </a:r>
          </a:p>
        </p:txBody>
      </p:sp>
      <p:sp>
        <p:nvSpPr>
          <p:cNvPr id="10" name="Rounded Rectangle 9"/>
          <p:cNvSpPr/>
          <p:nvPr/>
        </p:nvSpPr>
        <p:spPr>
          <a:xfrm>
            <a:off x="457200" y="2633472"/>
            <a:ext cx="11365992" cy="914400"/>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11480" y="2578608"/>
            <a:ext cx="11365992" cy="914400"/>
          </a:xfrm>
          <a:prstGeom prst="round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11480" y="2578608"/>
            <a:ext cx="109728" cy="9144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761488"/>
            <a:ext cx="475488" cy="530352"/>
          </a:xfrm>
          <a:prstGeom prst="rect">
            <a:avLst/>
          </a:prstGeom>
          <a:noFill/>
        </p:spPr>
        <p:txBody>
          <a:bodyPr wrap="square">
            <a:spAutoFit/>
          </a:bodyPr>
          <a:lstStyle/>
          <a:p>
            <a:pPr algn="l">
              <a:defRPr sz="2600" b="1" i="0">
                <a:solidFill>
                  <a:srgbClr val="0D9488"/>
                </a:solidFill>
                <a:latin typeface="Aptos Display"/>
              </a:defRPr>
            </a:pPr>
            <a:r>
              <a:t>2</a:t>
            </a:r>
          </a:p>
        </p:txBody>
      </p:sp>
      <p:sp>
        <p:nvSpPr>
          <p:cNvPr id="14" name="TextBox 13"/>
          <p:cNvSpPr txBox="1"/>
          <p:nvPr/>
        </p:nvSpPr>
        <p:spPr>
          <a:xfrm>
            <a:off x="1298448" y="2715768"/>
            <a:ext cx="10149840" cy="713232"/>
          </a:xfrm>
          <a:prstGeom prst="rect">
            <a:avLst/>
          </a:prstGeom>
          <a:noFill/>
        </p:spPr>
        <p:txBody>
          <a:bodyPr wrap="square">
            <a:spAutoFit/>
          </a:bodyPr>
          <a:lstStyle/>
          <a:p>
            <a:pPr algn="l">
              <a:defRPr sz="2000" b="0" i="0">
                <a:solidFill>
                  <a:srgbClr val="0F172A"/>
                </a:solidFill>
                <a:latin typeface="Aptos"/>
              </a:defRPr>
            </a:pPr>
            <a:r>
              <a:t>Explain how multi-factor authentication adds security.</a:t>
            </a:r>
          </a:p>
        </p:txBody>
      </p:sp>
      <p:sp>
        <p:nvSpPr>
          <p:cNvPr id="15" name="Rounded Rectangle 14"/>
          <p:cNvSpPr/>
          <p:nvPr/>
        </p:nvSpPr>
        <p:spPr>
          <a:xfrm>
            <a:off x="457200" y="3639312"/>
            <a:ext cx="11365992" cy="914400"/>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11480" y="3584448"/>
            <a:ext cx="11365992" cy="914400"/>
          </a:xfrm>
          <a:prstGeom prst="round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11480" y="3584448"/>
            <a:ext cx="109728" cy="914400"/>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3767328"/>
            <a:ext cx="475488" cy="530352"/>
          </a:xfrm>
          <a:prstGeom prst="rect">
            <a:avLst/>
          </a:prstGeom>
          <a:noFill/>
        </p:spPr>
        <p:txBody>
          <a:bodyPr wrap="square">
            <a:spAutoFit/>
          </a:bodyPr>
          <a:lstStyle/>
          <a:p>
            <a:pPr algn="l">
              <a:defRPr sz="2600" b="1" i="0">
                <a:solidFill>
                  <a:srgbClr val="B45309"/>
                </a:solidFill>
                <a:latin typeface="Aptos Display"/>
              </a:defRPr>
            </a:pPr>
            <a:r>
              <a:t>3</a:t>
            </a:r>
          </a:p>
        </p:txBody>
      </p:sp>
      <p:sp>
        <p:nvSpPr>
          <p:cNvPr id="19" name="TextBox 18"/>
          <p:cNvSpPr txBox="1"/>
          <p:nvPr/>
        </p:nvSpPr>
        <p:spPr>
          <a:xfrm>
            <a:off x="1298448" y="3721608"/>
            <a:ext cx="10149840" cy="713232"/>
          </a:xfrm>
          <a:prstGeom prst="rect">
            <a:avLst/>
          </a:prstGeom>
          <a:noFill/>
        </p:spPr>
        <p:txBody>
          <a:bodyPr wrap="square">
            <a:spAutoFit/>
          </a:bodyPr>
          <a:lstStyle/>
          <a:p>
            <a:pPr algn="l">
              <a:defRPr sz="2000" b="0" i="0">
                <a:solidFill>
                  <a:srgbClr val="0F172A"/>
                </a:solidFill>
                <a:latin typeface="Aptos"/>
              </a:defRPr>
            </a:pPr>
            <a:r>
              <a:t>Create strong passwords and outline MFA setup steps.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6858000" y="-1828800"/>
            <a:ext cx="5943600" cy="5486400"/>
          </a:xfrm>
          <a:prstGeom prst="rect">
            <a:avLst/>
          </a:prstGeom>
          <a:noFill/>
        </p:spPr>
        <p:txBody>
          <a:bodyPr wrap="square">
            <a:spAutoFit/>
          </a:bodyPr>
          <a:lstStyle/>
          <a:p>
            <a:pPr algn="ctr">
              <a:defRPr sz="38000" b="1" i="0">
                <a:solidFill>
                  <a:srgbClr val="3730A3"/>
                </a:solidFill>
                <a:latin typeface="Aptos Display"/>
              </a:defRPr>
            </a:pPr>
            <a:r>
              <a:t>“</a:t>
            </a:r>
          </a:p>
        </p:txBody>
      </p:sp>
      <p:sp>
        <p:nvSpPr>
          <p:cNvPr id="3" name="Rounded Rectangle 2"/>
          <p:cNvSpPr/>
          <p:nvPr/>
        </p:nvSpPr>
        <p:spPr>
          <a:xfrm>
            <a:off x="502920" y="384048"/>
            <a:ext cx="2286000" cy="457200"/>
          </a:xfrm>
          <a:prstGeom prst="round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Aptos"/>
              </a:defRPr>
            </a:pPr>
            <a:r>
              <a:t>Essential Question</a:t>
            </a:r>
          </a:p>
        </p:txBody>
      </p:sp>
      <p:sp>
        <p:nvSpPr>
          <p:cNvPr id="4" name="Rectangle 3"/>
          <p:cNvSpPr/>
          <p:nvPr/>
        </p:nvSpPr>
        <p:spPr>
          <a:xfrm>
            <a:off x="502920" y="987552"/>
            <a:ext cx="2286000" cy="36576"/>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51560"/>
            <a:ext cx="1280160" cy="1280160"/>
          </a:xfrm>
          <a:prstGeom prst="rect">
            <a:avLst/>
          </a:prstGeom>
          <a:noFill/>
        </p:spPr>
        <p:txBody>
          <a:bodyPr wrap="square">
            <a:spAutoFit/>
          </a:bodyPr>
          <a:lstStyle/>
          <a:p>
            <a:pPr algn="l">
              <a:defRPr sz="11000" b="1" i="0">
                <a:solidFill>
                  <a:srgbClr val="C7D2FE"/>
                </a:solidFill>
                <a:latin typeface="Aptos Display"/>
              </a:defRPr>
            </a:pPr>
            <a:r>
              <a:t>“</a:t>
            </a:r>
          </a:p>
        </p:txBody>
      </p:sp>
      <p:sp>
        <p:nvSpPr>
          <p:cNvPr id="6" name="TextBox 5"/>
          <p:cNvSpPr txBox="1"/>
          <p:nvPr/>
        </p:nvSpPr>
        <p:spPr>
          <a:xfrm>
            <a:off x="594360" y="2103120"/>
            <a:ext cx="9875520" cy="3840480"/>
          </a:xfrm>
          <a:prstGeom prst="rect">
            <a:avLst/>
          </a:prstGeom>
          <a:noFill/>
        </p:spPr>
        <p:txBody>
          <a:bodyPr wrap="square">
            <a:spAutoFit/>
          </a:bodyPr>
          <a:lstStyle/>
          <a:p>
            <a:pPr algn="l">
              <a:defRPr sz="3400" b="0" i="0">
                <a:solidFill>
                  <a:srgbClr val="FFFFFF"/>
                </a:solidFill>
                <a:latin typeface="Aptos Display"/>
              </a:defRPr>
            </a:pPr>
            <a:r>
              <a:t>How do passwords and multi-factor authentication keep your info safe?</a:t>
            </a:r>
          </a:p>
        </p:txBody>
      </p:sp>
      <p:sp>
        <p:nvSpPr>
          <p:cNvPr id="7" name="TextBox 6"/>
          <p:cNvSpPr txBox="1"/>
          <p:nvPr/>
        </p:nvSpPr>
        <p:spPr>
          <a:xfrm>
            <a:off x="9144000" y="4572000"/>
            <a:ext cx="2743200" cy="1828800"/>
          </a:xfrm>
          <a:prstGeom prst="rect">
            <a:avLst/>
          </a:prstGeom>
          <a:noFill/>
        </p:spPr>
        <p:txBody>
          <a:bodyPr wrap="square">
            <a:spAutoFit/>
          </a:bodyPr>
          <a:lstStyle/>
          <a:p>
            <a:pPr algn="l">
              <a:defRPr sz="11000" b="1" i="0">
                <a:solidFill>
                  <a:srgbClr val="3730A3"/>
                </a:solidFill>
                <a:latin typeface="Aptos Display"/>
              </a:defRPr>
            </a:pPr>
            <a: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4338CA"/>
        </a:solidFill>
        <a:effectLst/>
      </p:bgPr>
    </p:bg>
    <p:spTree>
      <p:nvGrpSpPr>
        <p:cNvPr id="1" name=""/>
        <p:cNvGrpSpPr/>
        <p:nvPr/>
      </p:nvGrpSpPr>
      <p:grpSpPr/>
      <p:sp>
        <p:nvSpPr>
          <p:cNvPr id="2" name="Oval 1"/>
          <p:cNvSpPr/>
          <p:nvPr/>
        </p:nvSpPr>
        <p:spPr>
          <a:xfrm>
            <a:off x="-1097280" y="3474720"/>
            <a:ext cx="5029200" cy="50292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961120" y="-1371600"/>
            <a:ext cx="4572000" cy="45720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418320" y="4389120"/>
            <a:ext cx="3657600" cy="3657600"/>
          </a:xfrm>
          <a:prstGeom prst="ellipse">
            <a:avLst/>
          </a:prstGeom>
          <a:solidFill>
            <a:srgbClr val="373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74720" y="3218688"/>
            <a:ext cx="5212080" cy="45720"/>
          </a:xfrm>
          <a:prstGeom prst="rect">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1280160"/>
            <a:ext cx="12191695" cy="1828800"/>
          </a:xfrm>
          <a:prstGeom prst="rect">
            <a:avLst/>
          </a:prstGeom>
          <a:noFill/>
        </p:spPr>
        <p:txBody>
          <a:bodyPr wrap="square">
            <a:spAutoFit/>
          </a:bodyPr>
          <a:lstStyle/>
          <a:p>
            <a:pPr algn="ctr">
              <a:defRPr sz="8200" b="0" i="0">
                <a:solidFill>
                  <a:srgbClr val="FFFFFF"/>
                </a:solidFill>
                <a:latin typeface="Aptos"/>
              </a:defRPr>
            </a:pPr>
            <a:r>
              <a:t>🔎</a:t>
            </a:r>
          </a:p>
        </p:txBody>
      </p:sp>
      <p:sp>
        <p:nvSpPr>
          <p:cNvPr id="7" name="TextBox 6"/>
          <p:cNvSpPr txBox="1"/>
          <p:nvPr/>
        </p:nvSpPr>
        <p:spPr>
          <a:xfrm>
            <a:off x="0" y="3291840"/>
            <a:ext cx="12191695" cy="1463040"/>
          </a:xfrm>
          <a:prstGeom prst="rect">
            <a:avLst/>
          </a:prstGeom>
          <a:noFill/>
        </p:spPr>
        <p:txBody>
          <a:bodyPr wrap="square">
            <a:spAutoFit/>
          </a:bodyPr>
          <a:lstStyle/>
          <a:p>
            <a:pPr algn="ctr">
              <a:defRPr sz="5200" b="1" i="0">
                <a:solidFill>
                  <a:srgbClr val="FFFFFF"/>
                </a:solidFill>
                <a:latin typeface="Aptos Display"/>
              </a:defRPr>
            </a:pPr>
            <a:r>
              <a:t>EXPLORE</a:t>
            </a:r>
          </a:p>
        </p:txBody>
      </p:sp>
      <p:sp>
        <p:nvSpPr>
          <p:cNvPr id="8" name="TextBox 7"/>
          <p:cNvSpPr txBox="1"/>
          <p:nvPr/>
        </p:nvSpPr>
        <p:spPr>
          <a:xfrm>
            <a:off x="0" y="4828032"/>
            <a:ext cx="12191695" cy="822960"/>
          </a:xfrm>
          <a:prstGeom prst="rect">
            <a:avLst/>
          </a:prstGeom>
          <a:noFill/>
        </p:spPr>
        <p:txBody>
          <a:bodyPr wrap="square">
            <a:spAutoFit/>
          </a:bodyPr>
          <a:lstStyle/>
          <a:p>
            <a:pPr algn="ctr">
              <a:defRPr sz="1600" b="0" i="0">
                <a:solidFill>
                  <a:srgbClr val="C7D2FE"/>
                </a:solidFill>
                <a:latin typeface="Aptos"/>
              </a:defRPr>
            </a:pPr>
            <a:r>
              <a:t>Let's investigate the problem.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EEF2FF"/>
        </a:solidFill>
        <a:effectLst/>
      </p:bgPr>
    </p:bg>
    <p:spTree>
      <p:nvGrpSpPr>
        <p:cNvPr id="1" name=""/>
        <p:cNvGrpSpPr/>
        <p:nvPr/>
      </p:nvGrpSpPr>
      <p:grpSpPr/>
      <p:sp>
        <p:nvSpPr>
          <p:cNvPr id="2" name="Rounded Rectangle 1"/>
          <p:cNvSpPr/>
          <p:nvPr/>
        </p:nvSpPr>
        <p:spPr>
          <a:xfrm>
            <a:off x="502920" y="292608"/>
            <a:ext cx="1481328" cy="457200"/>
          </a:xfrm>
          <a:prstGeom prst="round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ptos"/>
              </a:defRPr>
            </a:pPr>
            <a:r>
              <a:t>💡 Hook</a:t>
            </a:r>
          </a:p>
        </p:txBody>
      </p:sp>
      <p:sp>
        <p:nvSpPr>
          <p:cNvPr id="3" name="TextBox 2"/>
          <p:cNvSpPr txBox="1"/>
          <p:nvPr/>
        </p:nvSpPr>
        <p:spPr>
          <a:xfrm>
            <a:off x="9144000" y="0"/>
            <a:ext cx="3200400" cy="3840480"/>
          </a:xfrm>
          <a:prstGeom prst="rect">
            <a:avLst/>
          </a:prstGeom>
          <a:noFill/>
        </p:spPr>
        <p:txBody>
          <a:bodyPr wrap="square">
            <a:spAutoFit/>
          </a:bodyPr>
          <a:lstStyle/>
          <a:p>
            <a:pPr algn="l">
              <a:defRPr sz="26000" b="1" i="0">
                <a:solidFill>
                  <a:srgbClr val="C7D2FE"/>
                </a:solidFill>
                <a:latin typeface="Aptos Display"/>
              </a:defRPr>
            </a:pPr>
            <a:r>
              <a:t>“</a:t>
            </a:r>
          </a:p>
        </p:txBody>
      </p:sp>
      <p:sp>
        <p:nvSpPr>
          <p:cNvPr id="4" name="Rounded Rectangle 3"/>
          <p:cNvSpPr/>
          <p:nvPr/>
        </p:nvSpPr>
        <p:spPr>
          <a:xfrm>
            <a:off x="502920" y="932688"/>
            <a:ext cx="11201400" cy="5349240"/>
          </a:xfrm>
          <a:prstGeom prst="roundRect">
            <a:avLst/>
          </a:prstGeom>
          <a:solidFill>
            <a:srgbClr val="FFFFFF"/>
          </a:solidFill>
          <a:ln w="1905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932688"/>
            <a:ext cx="109728" cy="5349240"/>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463040"/>
            <a:ext cx="10378440" cy="4572000"/>
          </a:xfrm>
          <a:prstGeom prst="rect">
            <a:avLst/>
          </a:prstGeom>
          <a:noFill/>
        </p:spPr>
        <p:txBody>
          <a:bodyPr wrap="square">
            <a:spAutoFit/>
          </a:bodyPr>
          <a:lstStyle/>
          <a:p>
            <a:pPr algn="l">
              <a:defRPr sz="2200" b="0" i="0">
                <a:solidFill>
                  <a:srgbClr val="0F172A"/>
                </a:solidFill>
                <a:latin typeface="Aptos"/>
              </a:defRPr>
            </a:pPr>
            <a:r>
              <a:t>Your online diary uses '1234' as a password. Someone guesses it and reads your secrets. How could this be stopped?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9844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247120" cy="1225295"/>
          </a:xfrm>
          <a:prstGeom prst="rect">
            <a:avLst/>
          </a:prstGeom>
          <a:noFill/>
        </p:spPr>
        <p:txBody>
          <a:bodyPr wrap="square">
            <a:spAutoFit/>
          </a:bodyPr>
          <a:lstStyle/>
          <a:p>
            <a:pPr algn="l">
              <a:defRPr sz="2800" b="1" i="0">
                <a:solidFill>
                  <a:srgbClr val="FFFFFF"/>
                </a:solidFill>
                <a:latin typeface="Aptos Display"/>
              </a:defRPr>
            </a:pPr>
            <a:r>
              <a:t>Watch &amp; Think</a:t>
            </a:r>
          </a:p>
        </p:txBody>
      </p:sp>
      <p:sp>
        <p:nvSpPr>
          <p:cNvPr id="4" name="Rounded Rectangle 3"/>
          <p:cNvSpPr/>
          <p:nvPr/>
        </p:nvSpPr>
        <p:spPr>
          <a:xfrm>
            <a:off x="384048" y="1417320"/>
            <a:ext cx="6931152" cy="448056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84048" y="1417320"/>
            <a:ext cx="6931152" cy="73152"/>
          </a:xfrm>
          <a:prstGeom prst="rect">
            <a:avLst/>
          </a:prstGeom>
          <a:solidFill>
            <a:srgbClr val="1E2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84048" y="5486400"/>
            <a:ext cx="6931152" cy="41148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5577840"/>
            <a:ext cx="3812133" cy="548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3461004" y="3063240"/>
            <a:ext cx="777240" cy="777240"/>
          </a:xfrm>
          <a:prstGeom prst="ellipse">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3000">
                <a:solidFill>
                  <a:srgbClr val="FFFFFF"/>
                </a:solidFill>
                <a:latin typeface="Aptos"/>
              </a:defRPr>
            </a:pPr>
            <a:r>
              <a:t>▶</a:t>
            </a:r>
          </a:p>
        </p:txBody>
      </p:sp>
      <p:sp>
        <p:nvSpPr>
          <p:cNvPr id="9" name="TextBox 8"/>
          <p:cNvSpPr txBox="1"/>
          <p:nvPr/>
        </p:nvSpPr>
        <p:spPr>
          <a:xfrm>
            <a:off x="384048" y="6025896"/>
            <a:ext cx="6931152" cy="402336"/>
          </a:xfrm>
          <a:prstGeom prst="rect">
            <a:avLst/>
          </a:prstGeom>
          <a:noFill/>
        </p:spPr>
        <p:txBody>
          <a:bodyPr wrap="square">
            <a:spAutoFit/>
          </a:bodyPr>
          <a:lstStyle/>
          <a:p>
            <a:pPr algn="l">
              <a:defRPr sz="1100" b="0" i="1">
                <a:solidFill>
                  <a:srgbClr val="64748B"/>
                </a:solidFill>
                <a:latin typeface="Aptos"/>
              </a:defRPr>
            </a:pPr>
            <a:r>
              <a:t>Video URL will be provided by your teacher</a:t>
            </a:r>
          </a:p>
        </p:txBody>
      </p:sp>
      <p:sp>
        <p:nvSpPr>
          <p:cNvPr id="10" name="TextBox 9"/>
          <p:cNvSpPr txBox="1"/>
          <p:nvPr/>
        </p:nvSpPr>
        <p:spPr>
          <a:xfrm>
            <a:off x="7571231" y="1572768"/>
            <a:ext cx="4343400" cy="457200"/>
          </a:xfrm>
          <a:prstGeom prst="rect">
            <a:avLst/>
          </a:prstGeom>
          <a:noFill/>
        </p:spPr>
        <p:txBody>
          <a:bodyPr wrap="square">
            <a:spAutoFit/>
          </a:bodyPr>
          <a:lstStyle/>
          <a:p>
            <a:pPr algn="l">
              <a:defRPr sz="1400" b="1" i="0">
                <a:solidFill>
                  <a:srgbClr val="64748B"/>
                </a:solidFill>
                <a:latin typeface="Aptos"/>
              </a:defRPr>
            </a:pPr>
            <a:r>
              <a:t>While you watch:</a:t>
            </a:r>
          </a:p>
        </p:txBody>
      </p:sp>
      <p:sp>
        <p:nvSpPr>
          <p:cNvPr id="11" name="Rounded Rectangle 10"/>
          <p:cNvSpPr/>
          <p:nvPr/>
        </p:nvSpPr>
        <p:spPr>
          <a:xfrm>
            <a:off x="7635240" y="2240280"/>
            <a:ext cx="4343400" cy="1207008"/>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571231" y="2176272"/>
            <a:ext cx="4343400" cy="1207008"/>
          </a:xfrm>
          <a:prstGeom prst="roundRect">
            <a:avLst/>
          </a:prstGeom>
          <a:solidFill>
            <a:srgbClr val="EEF2FF"/>
          </a:solidFill>
          <a:ln w="1016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571231" y="2176272"/>
            <a:ext cx="73152" cy="120700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27264" y="2359152"/>
            <a:ext cx="3913632" cy="822960"/>
          </a:xfrm>
          <a:prstGeom prst="rect">
            <a:avLst/>
          </a:prstGeom>
          <a:noFill/>
        </p:spPr>
        <p:txBody>
          <a:bodyPr wrap="square">
            <a:spAutoFit/>
          </a:bodyPr>
          <a:lstStyle/>
          <a:p>
            <a:pPr algn="l">
              <a:defRPr sz="1600" b="0" i="0">
                <a:solidFill>
                  <a:srgbClr val="0F172A"/>
                </a:solidFill>
                <a:latin typeface="Aptos"/>
              </a:defRPr>
            </a:pPr>
            <a:r>
              <a:t>What is one key idea?</a:t>
            </a:r>
          </a:p>
        </p:txBody>
      </p:sp>
      <p:sp>
        <p:nvSpPr>
          <p:cNvPr id="15" name="Rounded Rectangle 14"/>
          <p:cNvSpPr/>
          <p:nvPr/>
        </p:nvSpPr>
        <p:spPr>
          <a:xfrm>
            <a:off x="7635240" y="3630168"/>
            <a:ext cx="4343400" cy="1207008"/>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571231" y="3566160"/>
            <a:ext cx="4343400" cy="1207008"/>
          </a:xfrm>
          <a:prstGeom prst="roundRect">
            <a:avLst/>
          </a:prstGeom>
          <a:solidFill>
            <a:srgbClr val="EEF2FF"/>
          </a:solidFill>
          <a:ln w="1016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571231" y="3566160"/>
            <a:ext cx="73152" cy="120700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27264" y="3749040"/>
            <a:ext cx="3913632" cy="822960"/>
          </a:xfrm>
          <a:prstGeom prst="rect">
            <a:avLst/>
          </a:prstGeom>
          <a:noFill/>
        </p:spPr>
        <p:txBody>
          <a:bodyPr wrap="square">
            <a:spAutoFit/>
          </a:bodyPr>
          <a:lstStyle/>
          <a:p>
            <a:pPr algn="l">
              <a:defRPr sz="1600" b="0" i="0">
                <a:solidFill>
                  <a:srgbClr val="0F172A"/>
                </a:solidFill>
                <a:latin typeface="Aptos"/>
              </a:defRPr>
            </a:pPr>
            <a:r>
              <a:t>How does it connect to today's topic?</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4338CA"/>
        </a:solidFill>
        <a:effectLst/>
      </p:bgPr>
    </p:bg>
    <p:spTree>
      <p:nvGrpSpPr>
        <p:cNvPr id="1" name=""/>
        <p:cNvGrpSpPr/>
        <p:nvPr/>
      </p:nvGrpSpPr>
      <p:grpSpPr/>
      <p:sp>
        <p:nvSpPr>
          <p:cNvPr id="2" name="Oval 1"/>
          <p:cNvSpPr/>
          <p:nvPr/>
        </p:nvSpPr>
        <p:spPr>
          <a:xfrm>
            <a:off x="-1097280" y="3474720"/>
            <a:ext cx="5029200" cy="50292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961120" y="-1371600"/>
            <a:ext cx="4572000" cy="45720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418320" y="4389120"/>
            <a:ext cx="3657600" cy="3657600"/>
          </a:xfrm>
          <a:prstGeom prst="ellipse">
            <a:avLst/>
          </a:prstGeom>
          <a:solidFill>
            <a:srgbClr val="373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74720" y="3218688"/>
            <a:ext cx="5212080" cy="45720"/>
          </a:xfrm>
          <a:prstGeom prst="rect">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1280160"/>
            <a:ext cx="12191695" cy="1828800"/>
          </a:xfrm>
          <a:prstGeom prst="rect">
            <a:avLst/>
          </a:prstGeom>
          <a:noFill/>
        </p:spPr>
        <p:txBody>
          <a:bodyPr wrap="square">
            <a:spAutoFit/>
          </a:bodyPr>
          <a:lstStyle/>
          <a:p>
            <a:pPr algn="ctr">
              <a:defRPr sz="8200" b="0" i="0">
                <a:solidFill>
                  <a:srgbClr val="FFFFFF"/>
                </a:solidFill>
                <a:latin typeface="Aptos"/>
              </a:defRPr>
            </a:pPr>
            <a:r>
              <a:t>🧠</a:t>
            </a:r>
          </a:p>
        </p:txBody>
      </p:sp>
      <p:sp>
        <p:nvSpPr>
          <p:cNvPr id="7" name="TextBox 6"/>
          <p:cNvSpPr txBox="1"/>
          <p:nvPr/>
        </p:nvSpPr>
        <p:spPr>
          <a:xfrm>
            <a:off x="0" y="3291840"/>
            <a:ext cx="12191695" cy="1463040"/>
          </a:xfrm>
          <a:prstGeom prst="rect">
            <a:avLst/>
          </a:prstGeom>
          <a:noFill/>
        </p:spPr>
        <p:txBody>
          <a:bodyPr wrap="square">
            <a:spAutoFit/>
          </a:bodyPr>
          <a:lstStyle/>
          <a:p>
            <a:pPr algn="ctr">
              <a:defRPr sz="5200" b="1" i="0">
                <a:solidFill>
                  <a:srgbClr val="FFFFFF"/>
                </a:solidFill>
                <a:latin typeface="Aptos Display"/>
              </a:defRPr>
            </a:pPr>
            <a:r>
              <a:t>LEARN</a:t>
            </a:r>
          </a:p>
        </p:txBody>
      </p:sp>
      <p:sp>
        <p:nvSpPr>
          <p:cNvPr id="8" name="TextBox 7"/>
          <p:cNvSpPr txBox="1"/>
          <p:nvPr/>
        </p:nvSpPr>
        <p:spPr>
          <a:xfrm>
            <a:off x="0" y="4828032"/>
            <a:ext cx="12191695" cy="822960"/>
          </a:xfrm>
          <a:prstGeom prst="rect">
            <a:avLst/>
          </a:prstGeom>
          <a:noFill/>
        </p:spPr>
        <p:txBody>
          <a:bodyPr wrap="square">
            <a:spAutoFit/>
          </a:bodyPr>
          <a:lstStyle/>
          <a:p>
            <a:pPr algn="ctr">
              <a:defRPr sz="1600" b="0" i="0">
                <a:solidFill>
                  <a:srgbClr val="C7D2FE"/>
                </a:solidFill>
                <a:latin typeface="Aptos"/>
              </a:defRPr>
            </a:pPr>
            <a:r>
              <a:t>Key ideas and concepts.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EEF2FF"/>
        </a:solidFill>
        <a:effectLst/>
      </p:bgPr>
    </p:bg>
    <p:spTree>
      <p:nvGrpSpPr>
        <p:cNvPr id="1" name=""/>
        <p:cNvGrpSpPr/>
        <p:nvPr/>
      </p:nvGrpSpPr>
      <p:grpSpPr/>
      <p:sp>
        <p:nvSpPr>
          <p:cNvPr id="2" name="Rectangle 1"/>
          <p:cNvSpPr/>
          <p:nvPr/>
        </p:nvSpPr>
        <p:spPr>
          <a:xfrm>
            <a:off x="0" y="0"/>
            <a:ext cx="12191695" cy="1298448"/>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247120" cy="1225295"/>
          </a:xfrm>
          <a:prstGeom prst="rect">
            <a:avLst/>
          </a:prstGeom>
          <a:noFill/>
        </p:spPr>
        <p:txBody>
          <a:bodyPr wrap="square">
            <a:spAutoFit/>
          </a:bodyPr>
          <a:lstStyle/>
          <a:p>
            <a:pPr algn="l">
              <a:defRPr sz="2800" b="1" i="0">
                <a:solidFill>
                  <a:srgbClr val="FFFFFF"/>
                </a:solidFill>
                <a:latin typeface="Aptos Display"/>
              </a:defRPr>
            </a:pPr>
            <a:r>
              <a:t>Strong Passwords</a:t>
            </a:r>
          </a:p>
        </p:txBody>
      </p:sp>
      <p:sp>
        <p:nvSpPr>
          <p:cNvPr id="4" name="Rounded Rectangle 3"/>
          <p:cNvSpPr/>
          <p:nvPr/>
        </p:nvSpPr>
        <p:spPr>
          <a:xfrm>
            <a:off x="347472" y="1426464"/>
            <a:ext cx="11640312" cy="5175504"/>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74320" y="1353312"/>
            <a:ext cx="11640312" cy="517550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353312"/>
            <a:ext cx="128016" cy="5175504"/>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85216" y="1664208"/>
            <a:ext cx="11064240" cy="4572000"/>
          </a:xfrm>
          <a:prstGeom prst="rect">
            <a:avLst/>
          </a:prstGeom>
          <a:noFill/>
        </p:spPr>
        <p:txBody>
          <a:bodyPr wrap="square">
            <a:spAutoFit/>
          </a:bodyPr>
          <a:lstStyle/>
          <a:p>
            <a:pPr>
              <a:lnSpc>
                <a:spcPct val="125000"/>
              </a:lnSpc>
              <a:spcAft>
                <a:spcPts val="1200"/>
              </a:spcAft>
              <a:defRPr sz="2000">
                <a:solidFill>
                  <a:srgbClr val="0F172A"/>
                </a:solidFill>
                <a:latin typeface="Aptos"/>
              </a:defRPr>
            </a:pPr>
            <a:r>
              <a:t>•  Strong passwords are at least 8 characters and mix letters, numbers, and symbols</a:t>
            </a:r>
          </a:p>
          <a:p>
            <a:pPr>
              <a:lnSpc>
                <a:spcPct val="125000"/>
              </a:lnSpc>
              <a:spcAft>
                <a:spcPts val="1200"/>
              </a:spcAft>
              <a:defRPr sz="2000">
                <a:solidFill>
                  <a:srgbClr val="0F172A"/>
                </a:solidFill>
                <a:latin typeface="Aptos"/>
              </a:defRPr>
            </a:pPr>
            <a:r>
              <a:t>•  Avoid common words or simple patterns</a:t>
            </a:r>
          </a:p>
          <a:p>
            <a:pPr>
              <a:lnSpc>
                <a:spcPct val="125000"/>
              </a:lnSpc>
              <a:spcAft>
                <a:spcPts val="1200"/>
              </a:spcAft>
              <a:defRPr sz="2000">
                <a:solidFill>
                  <a:srgbClr val="0F172A"/>
                </a:solidFill>
                <a:latin typeface="Aptos"/>
              </a:defRPr>
            </a:pPr>
            <a:r>
              <a:t>•  For example, 'P@ssw0rd123!' is harder to guess than 'password'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EEF2FF"/>
        </a:solidFill>
        <a:effectLst/>
      </p:bgPr>
    </p:bg>
    <p:spTree>
      <p:nvGrpSpPr>
        <p:cNvPr id="1" name=""/>
        <p:cNvGrpSpPr/>
        <p:nvPr/>
      </p:nvGrpSpPr>
      <p:grpSpPr/>
      <p:sp>
        <p:nvSpPr>
          <p:cNvPr id="2" name="Rectangle 1"/>
          <p:cNvSpPr/>
          <p:nvPr/>
        </p:nvSpPr>
        <p:spPr>
          <a:xfrm>
            <a:off x="0" y="0"/>
            <a:ext cx="12191695" cy="1298448"/>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247120" cy="1225295"/>
          </a:xfrm>
          <a:prstGeom prst="rect">
            <a:avLst/>
          </a:prstGeom>
          <a:noFill/>
        </p:spPr>
        <p:txBody>
          <a:bodyPr wrap="square">
            <a:spAutoFit/>
          </a:bodyPr>
          <a:lstStyle/>
          <a:p>
            <a:pPr algn="l">
              <a:defRPr sz="2800" b="1" i="0">
                <a:solidFill>
                  <a:srgbClr val="FFFFFF"/>
                </a:solidFill>
                <a:latin typeface="Aptos Display"/>
              </a:defRPr>
            </a:pPr>
            <a:r>
              <a:t>Multi-Factor Auth</a:t>
            </a:r>
          </a:p>
        </p:txBody>
      </p:sp>
      <p:sp>
        <p:nvSpPr>
          <p:cNvPr id="4" name="Rounded Rectangle 3"/>
          <p:cNvSpPr/>
          <p:nvPr/>
        </p:nvSpPr>
        <p:spPr>
          <a:xfrm>
            <a:off x="347472" y="1426464"/>
            <a:ext cx="11640312" cy="5175504"/>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74320" y="1353312"/>
            <a:ext cx="11640312" cy="517550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353312"/>
            <a:ext cx="128016" cy="5175504"/>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85216" y="1664208"/>
            <a:ext cx="11064240" cy="4572000"/>
          </a:xfrm>
          <a:prstGeom prst="rect">
            <a:avLst/>
          </a:prstGeom>
          <a:noFill/>
        </p:spPr>
        <p:txBody>
          <a:bodyPr wrap="square">
            <a:spAutoFit/>
          </a:bodyPr>
          <a:lstStyle/>
          <a:p>
            <a:pPr>
              <a:lnSpc>
                <a:spcPct val="125000"/>
              </a:lnSpc>
              <a:spcAft>
                <a:spcPts val="1200"/>
              </a:spcAft>
              <a:defRPr sz="2000">
                <a:solidFill>
                  <a:srgbClr val="0F172A"/>
                </a:solidFill>
                <a:latin typeface="Aptos"/>
              </a:defRPr>
            </a:pPr>
            <a:r>
              <a:t>•  MFA adds a second step to confirm your identity, like a code sent to your phone</a:t>
            </a:r>
          </a:p>
          <a:p>
            <a:pPr>
              <a:lnSpc>
                <a:spcPct val="125000"/>
              </a:lnSpc>
              <a:spcAft>
                <a:spcPts val="1200"/>
              </a:spcAft>
              <a:defRPr sz="2000">
                <a:solidFill>
                  <a:srgbClr val="0F172A"/>
                </a:solidFill>
                <a:latin typeface="Aptos"/>
              </a:defRPr>
            </a:pPr>
            <a:r>
              <a:t>•  This extra layer blocks hackers even if they get your password</a:t>
            </a:r>
          </a:p>
          <a:p>
            <a:pPr>
              <a:lnSpc>
                <a:spcPct val="125000"/>
              </a:lnSpc>
              <a:spcAft>
                <a:spcPts val="1200"/>
              </a:spcAft>
              <a:defRPr sz="2000">
                <a:solidFill>
                  <a:srgbClr val="0F172A"/>
                </a:solidFill>
                <a:latin typeface="Aptos"/>
              </a:defRPr>
            </a:pPr>
            <a:r>
              <a:t>•  For example, after entering your password, you type a code from a text message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0FDFA"/>
        </a:solidFill>
        <a:effectLst/>
      </p:bgPr>
    </p:bg>
    <p:spTree>
      <p:nvGrpSpPr>
        <p:cNvPr id="1" name=""/>
        <p:cNvGrpSpPr/>
        <p:nvPr/>
      </p:nvGrpSpPr>
      <p:grpSpPr/>
      <p:sp>
        <p:nvSpPr>
          <p:cNvPr id="2" name="Rectangle 1"/>
          <p:cNvSpPr/>
          <p:nvPr/>
        </p:nvSpPr>
        <p:spPr>
          <a:xfrm>
            <a:off x="0" y="0"/>
            <a:ext cx="12191695" cy="12984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247120" cy="1225295"/>
          </a:xfrm>
          <a:prstGeom prst="rect">
            <a:avLst/>
          </a:prstGeom>
          <a:noFill/>
        </p:spPr>
        <p:txBody>
          <a:bodyPr wrap="square">
            <a:spAutoFit/>
          </a:bodyPr>
          <a:lstStyle/>
          <a:p>
            <a:pPr algn="l">
              <a:defRPr sz="2800" b="1" i="0">
                <a:solidFill>
                  <a:srgbClr val="FFFFFF"/>
                </a:solidFill>
                <a:latin typeface="Aptos Display"/>
              </a:defRPr>
            </a:pPr>
            <a:r>
              <a:t>🌍  Protecting Social Media</a:t>
            </a:r>
          </a:p>
        </p:txBody>
      </p:sp>
      <p:sp>
        <p:nvSpPr>
          <p:cNvPr id="4" name="Rounded Rectangle 3"/>
          <p:cNvSpPr/>
          <p:nvPr/>
        </p:nvSpPr>
        <p:spPr>
          <a:xfrm>
            <a:off x="347472" y="1426464"/>
            <a:ext cx="11640312" cy="5175504"/>
          </a:xfrm>
          <a:prstGeom prst="roundRect">
            <a:avLst/>
          </a:prstGeom>
          <a:solidFill>
            <a:srgbClr val="99F6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74320" y="1353312"/>
            <a:ext cx="11640312" cy="517550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353312"/>
            <a:ext cx="128016" cy="517550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85216" y="1664208"/>
            <a:ext cx="11064240" cy="4572000"/>
          </a:xfrm>
          <a:prstGeom prst="rect">
            <a:avLst/>
          </a:prstGeom>
          <a:noFill/>
        </p:spPr>
        <p:txBody>
          <a:bodyPr wrap="square">
            <a:spAutoFit/>
          </a:bodyPr>
          <a:lstStyle/>
          <a:p>
            <a:pPr>
              <a:lnSpc>
                <a:spcPct val="125000"/>
              </a:lnSpc>
              <a:spcAft>
                <a:spcPts val="1200"/>
              </a:spcAft>
              <a:defRPr sz="2000">
                <a:solidFill>
                  <a:srgbClr val="0F172A"/>
                </a:solidFill>
                <a:latin typeface="Aptos"/>
              </a:defRPr>
            </a:pPr>
            <a:r>
              <a:t>→  Many people use easy passwords on social media, making accounts targets for hackers.</a:t>
            </a:r>
          </a:p>
          <a:p>
            <a:pPr>
              <a:lnSpc>
                <a:spcPct val="125000"/>
              </a:lnSpc>
              <a:spcAft>
                <a:spcPts val="1200"/>
              </a:spcAft>
              <a:defRPr sz="2000">
                <a:solidFill>
                  <a:srgbClr val="0F172A"/>
                </a:solidFill>
                <a:latin typeface="Aptos"/>
              </a:defRPr>
            </a:pPr>
            <a:r>
              <a:t>→  Strong passwords prevent easy guessing.</a:t>
            </a:r>
          </a:p>
          <a:p>
            <a:pPr>
              <a:lnSpc>
                <a:spcPct val="125000"/>
              </a:lnSpc>
              <a:spcAft>
                <a:spcPts val="1200"/>
              </a:spcAft>
              <a:defRPr sz="2000">
                <a:solidFill>
                  <a:srgbClr val="0F172A"/>
                </a:solidFill>
                <a:latin typeface="Aptos"/>
              </a:defRPr>
            </a:pPr>
            <a:r>
              <a:t>→  MFA stops hackers even if passwords are stolen.</a:t>
            </a:r>
          </a:p>
          <a:p>
            <a:pPr>
              <a:lnSpc>
                <a:spcPct val="125000"/>
              </a:lnSpc>
              <a:spcAft>
                <a:spcPts val="1200"/>
              </a:spcAft>
              <a:defRPr sz="2000">
                <a:solidFill>
                  <a:srgbClr val="0F172A"/>
                </a:solidFill>
                <a:latin typeface="Aptos"/>
              </a:defRPr>
            </a:pPr>
            <a:r>
              <a:t>→  This protects your posts and personal info.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4338CA"/>
        </a:solidFill>
        <a:effectLst/>
      </p:bgPr>
    </p:bg>
    <p:spTree>
      <p:nvGrpSpPr>
        <p:cNvPr id="1" name=""/>
        <p:cNvGrpSpPr/>
        <p:nvPr/>
      </p:nvGrpSpPr>
      <p:grpSpPr/>
      <p:sp>
        <p:nvSpPr>
          <p:cNvPr id="2" name="Oval 1"/>
          <p:cNvSpPr/>
          <p:nvPr/>
        </p:nvSpPr>
        <p:spPr>
          <a:xfrm>
            <a:off x="-1097280" y="3474720"/>
            <a:ext cx="5029200" cy="50292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961120" y="-1371600"/>
            <a:ext cx="4572000" cy="45720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418320" y="4389120"/>
            <a:ext cx="3657600" cy="3657600"/>
          </a:xfrm>
          <a:prstGeom prst="ellipse">
            <a:avLst/>
          </a:prstGeom>
          <a:solidFill>
            <a:srgbClr val="373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74720" y="3218688"/>
            <a:ext cx="5212080" cy="45720"/>
          </a:xfrm>
          <a:prstGeom prst="rect">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1280160"/>
            <a:ext cx="12191695" cy="1828800"/>
          </a:xfrm>
          <a:prstGeom prst="rect">
            <a:avLst/>
          </a:prstGeom>
          <a:noFill/>
        </p:spPr>
        <p:txBody>
          <a:bodyPr wrap="square">
            <a:spAutoFit/>
          </a:bodyPr>
          <a:lstStyle/>
          <a:p>
            <a:pPr algn="ctr">
              <a:defRPr sz="8200" b="0" i="0">
                <a:solidFill>
                  <a:srgbClr val="FFFFFF"/>
                </a:solidFill>
                <a:latin typeface="Aptos"/>
              </a:defRPr>
            </a:pPr>
            <a:r>
              <a:t>🛠</a:t>
            </a:r>
          </a:p>
        </p:txBody>
      </p:sp>
      <p:sp>
        <p:nvSpPr>
          <p:cNvPr id="7" name="TextBox 6"/>
          <p:cNvSpPr txBox="1"/>
          <p:nvPr/>
        </p:nvSpPr>
        <p:spPr>
          <a:xfrm>
            <a:off x="0" y="3291840"/>
            <a:ext cx="12191695" cy="1463040"/>
          </a:xfrm>
          <a:prstGeom prst="rect">
            <a:avLst/>
          </a:prstGeom>
          <a:noFill/>
        </p:spPr>
        <p:txBody>
          <a:bodyPr wrap="square">
            <a:spAutoFit/>
          </a:bodyPr>
          <a:lstStyle/>
          <a:p>
            <a:pPr algn="ctr">
              <a:defRPr sz="5200" b="1" i="0">
                <a:solidFill>
                  <a:srgbClr val="FFFFFF"/>
                </a:solidFill>
                <a:latin typeface="Aptos Display"/>
              </a:defRPr>
            </a:pPr>
            <a:r>
              <a:t>APPLY</a:t>
            </a:r>
          </a:p>
        </p:txBody>
      </p:sp>
      <p:sp>
        <p:nvSpPr>
          <p:cNvPr id="8" name="TextBox 7"/>
          <p:cNvSpPr txBox="1"/>
          <p:nvPr/>
        </p:nvSpPr>
        <p:spPr>
          <a:xfrm>
            <a:off x="0" y="4828032"/>
            <a:ext cx="12191695" cy="822960"/>
          </a:xfrm>
          <a:prstGeom prst="rect">
            <a:avLst/>
          </a:prstGeom>
          <a:noFill/>
        </p:spPr>
        <p:txBody>
          <a:bodyPr wrap="square">
            <a:spAutoFit/>
          </a:bodyPr>
          <a:lstStyle/>
          <a:p>
            <a:pPr algn="ctr">
              <a:defRPr sz="1600" b="0" i="0">
                <a:solidFill>
                  <a:srgbClr val="C7D2FE"/>
                </a:solidFill>
                <a:latin typeface="Aptos"/>
              </a:defRPr>
            </a:pPr>
            <a:r>
              <a:t>Put your learning into action.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BEB"/>
        </a:solidFill>
        <a:effectLst/>
      </p:bgPr>
    </p:bg>
    <p:spTree>
      <p:nvGrpSpPr>
        <p:cNvPr id="1" name=""/>
        <p:cNvGrpSpPr/>
        <p:nvPr/>
      </p:nvGrpSpPr>
      <p:grpSpPr/>
      <p:sp>
        <p:nvSpPr>
          <p:cNvPr id="2" name="Rectangle 1"/>
          <p:cNvSpPr/>
          <p:nvPr/>
        </p:nvSpPr>
        <p:spPr>
          <a:xfrm>
            <a:off x="0" y="0"/>
            <a:ext cx="12191695" cy="1298448"/>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247120" cy="1225295"/>
          </a:xfrm>
          <a:prstGeom prst="rect">
            <a:avLst/>
          </a:prstGeom>
          <a:noFill/>
        </p:spPr>
        <p:txBody>
          <a:bodyPr wrap="square">
            <a:spAutoFit/>
          </a:bodyPr>
          <a:lstStyle/>
          <a:p>
            <a:pPr algn="l">
              <a:defRPr sz="2800" b="1" i="0">
                <a:solidFill>
                  <a:srgbClr val="FFFFFF"/>
                </a:solidFill>
                <a:latin typeface="Aptos Display"/>
              </a:defRPr>
            </a:pPr>
            <a:r>
              <a:t>Create Passwords &amp; MFA Plan</a:t>
            </a:r>
          </a:p>
        </p:txBody>
      </p:sp>
      <p:sp>
        <p:nvSpPr>
          <p:cNvPr id="4" name="Rounded Rectangle 3"/>
          <p:cNvSpPr/>
          <p:nvPr/>
        </p:nvSpPr>
        <p:spPr>
          <a:xfrm>
            <a:off x="10058400" y="310896"/>
            <a:ext cx="182880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B45309"/>
                </a:solidFill>
                <a:latin typeface="Aptos"/>
              </a:defRPr>
            </a:pPr>
            <a:r>
              <a:t>⏱  15 minutes</a:t>
            </a:r>
          </a:p>
        </p:txBody>
      </p:sp>
      <p:sp>
        <p:nvSpPr>
          <p:cNvPr id="5" name="Oval 4"/>
          <p:cNvSpPr/>
          <p:nvPr/>
        </p:nvSpPr>
        <p:spPr>
          <a:xfrm>
            <a:off x="411480" y="1463040"/>
            <a:ext cx="475488" cy="475488"/>
          </a:xfrm>
          <a:prstGeom prst="ellipse">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ptos"/>
              </a:defRPr>
            </a:pPr>
            <a:r>
              <a:t>1</a:t>
            </a:r>
          </a:p>
        </p:txBody>
      </p:sp>
      <p:sp>
        <p:nvSpPr>
          <p:cNvPr id="6" name="TextBox 5"/>
          <p:cNvSpPr txBox="1"/>
          <p:nvPr/>
        </p:nvSpPr>
        <p:spPr>
          <a:xfrm>
            <a:off x="1024128" y="1499616"/>
            <a:ext cx="10881360" cy="530352"/>
          </a:xfrm>
          <a:prstGeom prst="rect">
            <a:avLst/>
          </a:prstGeom>
          <a:noFill/>
        </p:spPr>
        <p:txBody>
          <a:bodyPr wrap="square">
            <a:spAutoFit/>
          </a:bodyPr>
          <a:lstStyle/>
          <a:p>
            <a:pPr algn="l">
              <a:defRPr sz="1800" b="0" i="0">
                <a:solidFill>
                  <a:srgbClr val="0F172A"/>
                </a:solidFill>
                <a:latin typeface="Aptos"/>
              </a:defRPr>
            </a:pPr>
            <a:r>
              <a:t>In pairs, list three strong passwords</a:t>
            </a:r>
          </a:p>
        </p:txBody>
      </p:sp>
      <p:sp>
        <p:nvSpPr>
          <p:cNvPr id="7" name="Oval 6"/>
          <p:cNvSpPr/>
          <p:nvPr/>
        </p:nvSpPr>
        <p:spPr>
          <a:xfrm>
            <a:off x="411480" y="2340864"/>
            <a:ext cx="475488" cy="475488"/>
          </a:xfrm>
          <a:prstGeom prst="ellipse">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ptos"/>
              </a:defRPr>
            </a:pPr>
            <a:r>
              <a:t>2</a:t>
            </a:r>
          </a:p>
        </p:txBody>
      </p:sp>
      <p:sp>
        <p:nvSpPr>
          <p:cNvPr id="8" name="TextBox 7"/>
          <p:cNvSpPr txBox="1"/>
          <p:nvPr/>
        </p:nvSpPr>
        <p:spPr>
          <a:xfrm>
            <a:off x="1024128" y="2377440"/>
            <a:ext cx="10881360" cy="530352"/>
          </a:xfrm>
          <a:prstGeom prst="rect">
            <a:avLst/>
          </a:prstGeom>
          <a:noFill/>
        </p:spPr>
        <p:txBody>
          <a:bodyPr wrap="square">
            <a:spAutoFit/>
          </a:bodyPr>
          <a:lstStyle/>
          <a:p>
            <a:pPr algn="l">
              <a:defRPr sz="1800" b="0" i="0">
                <a:solidFill>
                  <a:srgbClr val="0F172A"/>
                </a:solidFill>
                <a:latin typeface="Aptos"/>
              </a:defRPr>
            </a:pPr>
            <a:r>
              <a:t>Then, pick an app like Instagram or Gmail and write step-by-step instructions to set up MFA</a:t>
            </a:r>
          </a:p>
        </p:txBody>
      </p:sp>
      <p:sp>
        <p:nvSpPr>
          <p:cNvPr id="9" name="Rounded Rectangle 8"/>
          <p:cNvSpPr/>
          <p:nvPr/>
        </p:nvSpPr>
        <p:spPr>
          <a:xfrm>
            <a:off x="274320" y="4892040"/>
            <a:ext cx="11640312" cy="1719072"/>
          </a:xfrm>
          <a:prstGeom prst="roundRect">
            <a:avLst/>
          </a:prstGeom>
          <a:solidFill>
            <a:srgbClr val="FDE68A"/>
          </a:solidFill>
          <a:ln w="1905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57200" y="4956048"/>
            <a:ext cx="1481328" cy="411480"/>
          </a:xfrm>
          <a:prstGeom prst="round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Aptos"/>
              </a:defRPr>
            </a:pPr>
            <a:r>
              <a:t>📋 Output</a:t>
            </a:r>
          </a:p>
        </p:txBody>
      </p:sp>
      <p:sp>
        <p:nvSpPr>
          <p:cNvPr id="11" name="TextBox 10"/>
          <p:cNvSpPr txBox="1"/>
          <p:nvPr/>
        </p:nvSpPr>
        <p:spPr>
          <a:xfrm>
            <a:off x="2103120" y="5029200"/>
            <a:ext cx="9692640" cy="594360"/>
          </a:xfrm>
          <a:prstGeom prst="rect">
            <a:avLst/>
          </a:prstGeom>
          <a:noFill/>
        </p:spPr>
        <p:txBody>
          <a:bodyPr wrap="square">
            <a:spAutoFit/>
          </a:bodyPr>
          <a:lstStyle/>
          <a:p>
            <a:pPr algn="l">
              <a:defRPr sz="1400" b="0" i="0">
                <a:solidFill>
                  <a:srgbClr val="0F172A"/>
                </a:solidFill>
                <a:latin typeface="Aptos"/>
              </a:defRPr>
            </a:pPr>
            <a:r>
              <a:t>A list of three strong passwords plus clear MFA setup steps for the chosen app.</a:t>
            </a:r>
          </a:p>
        </p:txBody>
      </p:sp>
      <p:sp>
        <p:nvSpPr>
          <p:cNvPr id="12" name="TextBox 11"/>
          <p:cNvSpPr txBox="1"/>
          <p:nvPr/>
        </p:nvSpPr>
        <p:spPr>
          <a:xfrm>
            <a:off x="457200" y="5623560"/>
            <a:ext cx="11338560" cy="502920"/>
          </a:xfrm>
          <a:prstGeom prst="rect">
            <a:avLst/>
          </a:prstGeom>
          <a:noFill/>
        </p:spPr>
        <p:txBody>
          <a:bodyPr wrap="square">
            <a:spAutoFit/>
          </a:bodyPr>
          <a:lstStyle/>
          <a:p>
            <a:pPr algn="l">
              <a:defRPr sz="1300" b="1" i="0">
                <a:solidFill>
                  <a:srgbClr val="B45309"/>
                </a:solidFill>
                <a:latin typeface="Aptos"/>
              </a:defRPr>
            </a:pPr>
            <a:r>
              <a:t>✓  Passwords are 8+ characters with mixed characters.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4338CA"/>
        </a:solidFill>
        <a:effectLst/>
      </p:bgPr>
    </p:bg>
    <p:spTree>
      <p:nvGrpSpPr>
        <p:cNvPr id="1" name=""/>
        <p:cNvGrpSpPr/>
        <p:nvPr/>
      </p:nvGrpSpPr>
      <p:grpSpPr/>
      <p:sp>
        <p:nvSpPr>
          <p:cNvPr id="2" name="Oval 1"/>
          <p:cNvSpPr/>
          <p:nvPr/>
        </p:nvSpPr>
        <p:spPr>
          <a:xfrm>
            <a:off x="-1097280" y="3474720"/>
            <a:ext cx="5029200" cy="50292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961120" y="-1371600"/>
            <a:ext cx="4572000" cy="45720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418320" y="4389120"/>
            <a:ext cx="3657600" cy="3657600"/>
          </a:xfrm>
          <a:prstGeom prst="ellipse">
            <a:avLst/>
          </a:prstGeom>
          <a:solidFill>
            <a:srgbClr val="373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74720" y="3218688"/>
            <a:ext cx="5212080" cy="45720"/>
          </a:xfrm>
          <a:prstGeom prst="rect">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1280160"/>
            <a:ext cx="12191695" cy="1828800"/>
          </a:xfrm>
          <a:prstGeom prst="rect">
            <a:avLst/>
          </a:prstGeom>
          <a:noFill/>
        </p:spPr>
        <p:txBody>
          <a:bodyPr wrap="square">
            <a:spAutoFit/>
          </a:bodyPr>
          <a:lstStyle/>
          <a:p>
            <a:pPr algn="ctr">
              <a:defRPr sz="8200" b="0" i="0">
                <a:solidFill>
                  <a:srgbClr val="FFFFFF"/>
                </a:solidFill>
                <a:latin typeface="Aptos"/>
              </a:defRPr>
            </a:pPr>
            <a:r>
              <a:t>💬</a:t>
            </a:r>
          </a:p>
        </p:txBody>
      </p:sp>
      <p:sp>
        <p:nvSpPr>
          <p:cNvPr id="7" name="TextBox 6"/>
          <p:cNvSpPr txBox="1"/>
          <p:nvPr/>
        </p:nvSpPr>
        <p:spPr>
          <a:xfrm>
            <a:off x="0" y="3291840"/>
            <a:ext cx="12191695" cy="1463040"/>
          </a:xfrm>
          <a:prstGeom prst="rect">
            <a:avLst/>
          </a:prstGeom>
          <a:noFill/>
        </p:spPr>
        <p:txBody>
          <a:bodyPr wrap="square">
            <a:spAutoFit/>
          </a:bodyPr>
          <a:lstStyle/>
          <a:p>
            <a:pPr algn="ctr">
              <a:defRPr sz="5200" b="1" i="0">
                <a:solidFill>
                  <a:srgbClr val="FFFFFF"/>
                </a:solidFill>
                <a:latin typeface="Aptos Display"/>
              </a:defRPr>
            </a:pPr>
            <a:r>
              <a:t>REFLECT</a:t>
            </a:r>
          </a:p>
        </p:txBody>
      </p:sp>
      <p:sp>
        <p:nvSpPr>
          <p:cNvPr id="8" name="TextBox 7"/>
          <p:cNvSpPr txBox="1"/>
          <p:nvPr/>
        </p:nvSpPr>
        <p:spPr>
          <a:xfrm>
            <a:off x="0" y="4828032"/>
            <a:ext cx="12191695" cy="822960"/>
          </a:xfrm>
          <a:prstGeom prst="rect">
            <a:avLst/>
          </a:prstGeom>
          <a:noFill/>
        </p:spPr>
        <p:txBody>
          <a:bodyPr wrap="square">
            <a:spAutoFit/>
          </a:bodyPr>
          <a:lstStyle/>
          <a:p>
            <a:pPr algn="ctr">
              <a:defRPr sz="1600" b="0" i="0">
                <a:solidFill>
                  <a:srgbClr val="C7D2FE"/>
                </a:solidFill>
                <a:latin typeface="Aptos"/>
              </a:defRPr>
            </a:pPr>
            <a:r>
              <a:t>Review and consolidate your understanding.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389888"/>
          </a:xfrm>
          <a:prstGeom prst="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11247120" cy="987552"/>
          </a:xfrm>
          <a:prstGeom prst="rect">
            <a:avLst/>
          </a:prstGeom>
          <a:noFill/>
        </p:spPr>
        <p:txBody>
          <a:bodyPr wrap="square">
            <a:spAutoFit/>
          </a:bodyPr>
          <a:lstStyle/>
          <a:p>
            <a:pPr algn="l">
              <a:defRPr sz="2800" b="1" i="0">
                <a:solidFill>
                  <a:srgbClr val="4338CA"/>
                </a:solidFill>
                <a:latin typeface="Aptos Display"/>
              </a:defRPr>
            </a:pPr>
            <a:r>
              <a:t>💬  Reflection Questions</a:t>
            </a:r>
          </a:p>
        </p:txBody>
      </p:sp>
      <p:sp>
        <p:nvSpPr>
          <p:cNvPr id="4" name="Rounded Rectangle 3"/>
          <p:cNvSpPr/>
          <p:nvPr/>
        </p:nvSpPr>
        <p:spPr>
          <a:xfrm>
            <a:off x="457200" y="1572768"/>
            <a:ext cx="11365992" cy="1207008"/>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11480" y="1508760"/>
            <a:ext cx="11365992" cy="1207008"/>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11480" y="1508760"/>
            <a:ext cx="100584" cy="120700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94944" y="1728216"/>
            <a:ext cx="10881360" cy="822960"/>
          </a:xfrm>
          <a:prstGeom prst="rect">
            <a:avLst/>
          </a:prstGeom>
          <a:noFill/>
        </p:spPr>
        <p:txBody>
          <a:bodyPr wrap="square">
            <a:spAutoFit/>
          </a:bodyPr>
          <a:lstStyle/>
          <a:p>
            <a:pPr algn="l">
              <a:defRPr sz="2000" b="0" i="0">
                <a:solidFill>
                  <a:srgbClr val="0F172A"/>
                </a:solidFill>
                <a:latin typeface="Aptos"/>
              </a:defRPr>
            </a:pPr>
            <a:r>
              <a:t>What risks come from weak passwords?</a:t>
            </a:r>
          </a:p>
        </p:txBody>
      </p:sp>
      <p:sp>
        <p:nvSpPr>
          <p:cNvPr id="8" name="Rounded Rectangle 7"/>
          <p:cNvSpPr/>
          <p:nvPr/>
        </p:nvSpPr>
        <p:spPr>
          <a:xfrm>
            <a:off x="457200" y="2871216"/>
            <a:ext cx="11365992" cy="1207008"/>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11480" y="2807208"/>
            <a:ext cx="11365992" cy="1207008"/>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2807208"/>
            <a:ext cx="100584" cy="120700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4944" y="3026664"/>
            <a:ext cx="10881360" cy="822960"/>
          </a:xfrm>
          <a:prstGeom prst="rect">
            <a:avLst/>
          </a:prstGeom>
          <a:noFill/>
        </p:spPr>
        <p:txBody>
          <a:bodyPr wrap="square">
            <a:spAutoFit/>
          </a:bodyPr>
          <a:lstStyle/>
          <a:p>
            <a:pPr algn="l">
              <a:defRPr sz="2000" b="0" i="0">
                <a:solidFill>
                  <a:srgbClr val="0F172A"/>
                </a:solidFill>
                <a:latin typeface="Aptos"/>
              </a:defRPr>
            </a:pPr>
            <a:r>
              <a:t>What challenges might you face setting up MFA?</a:t>
            </a:r>
          </a:p>
        </p:txBody>
      </p:sp>
      <p:sp>
        <p:nvSpPr>
          <p:cNvPr id="12" name="Rounded Rectangle 11"/>
          <p:cNvSpPr/>
          <p:nvPr/>
        </p:nvSpPr>
        <p:spPr>
          <a:xfrm>
            <a:off x="457200" y="4169664"/>
            <a:ext cx="11365992" cy="1207008"/>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11480" y="4105656"/>
            <a:ext cx="11365992" cy="1207008"/>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11480" y="4105656"/>
            <a:ext cx="100584" cy="120700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94944" y="4325112"/>
            <a:ext cx="10881360" cy="822960"/>
          </a:xfrm>
          <a:prstGeom prst="rect">
            <a:avLst/>
          </a:prstGeom>
          <a:noFill/>
        </p:spPr>
        <p:txBody>
          <a:bodyPr wrap="square">
            <a:spAutoFit/>
          </a:bodyPr>
          <a:lstStyle/>
          <a:p>
            <a:pPr algn="l">
              <a:defRPr sz="2000" b="0" i="0">
                <a:solidFill>
                  <a:srgbClr val="0F172A"/>
                </a:solidFill>
                <a:latin typeface="Aptos"/>
              </a:defRPr>
            </a:pPr>
            <a:r>
              <a:t>How can you help others use strong passwords and MFA?</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CF5"/>
        </a:solidFill>
        <a:effectLst/>
      </p:bgPr>
    </p:bg>
    <p:spTree>
      <p:nvGrpSpPr>
        <p:cNvPr id="1" name=""/>
        <p:cNvGrpSpPr/>
        <p:nvPr/>
      </p:nvGrpSpPr>
      <p:grpSpPr/>
      <p:sp>
        <p:nvSpPr>
          <p:cNvPr id="2" name="Rectangle 1"/>
          <p:cNvSpPr/>
          <p:nvPr/>
        </p:nvSpPr>
        <p:spPr>
          <a:xfrm>
            <a:off x="0" y="0"/>
            <a:ext cx="12191695" cy="1261872"/>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37160"/>
            <a:ext cx="10972800" cy="1005840"/>
          </a:xfrm>
          <a:prstGeom prst="rect">
            <a:avLst/>
          </a:prstGeom>
          <a:noFill/>
        </p:spPr>
        <p:txBody>
          <a:bodyPr wrap="square">
            <a:spAutoFit/>
          </a:bodyPr>
          <a:lstStyle/>
          <a:p>
            <a:pPr algn="l">
              <a:defRPr sz="2400" b="1" i="0">
                <a:solidFill>
                  <a:srgbClr val="FFFFFF"/>
                </a:solidFill>
                <a:latin typeface="Aptos Display"/>
              </a:defRPr>
            </a:pPr>
            <a:r>
              <a:t>📝  Teacher Notes</a:t>
            </a:r>
          </a:p>
        </p:txBody>
      </p:sp>
      <p:sp>
        <p:nvSpPr>
          <p:cNvPr id="4" name="TextBox 3"/>
          <p:cNvSpPr txBox="1"/>
          <p:nvPr/>
        </p:nvSpPr>
        <p:spPr>
          <a:xfrm>
            <a:off x="0" y="2286000"/>
            <a:ext cx="12191695" cy="2560320"/>
          </a:xfrm>
          <a:prstGeom prst="rect">
            <a:avLst/>
          </a:prstGeom>
          <a:noFill/>
        </p:spPr>
        <p:txBody>
          <a:bodyPr wrap="square">
            <a:spAutoFit/>
          </a:bodyPr>
          <a:lstStyle/>
          <a:p>
            <a:pPr algn="ctr">
              <a:defRPr sz="9600" b="1" i="0">
                <a:solidFill>
                  <a:srgbClr val="FDE68A"/>
                </a:solidFill>
                <a:latin typeface="Aptos Display"/>
              </a:defRPr>
            </a:pPr>
            <a:r>
              <a:t>TEACHER</a:t>
            </a:r>
          </a:p>
        </p:txBody>
      </p:sp>
      <p:sp>
        <p:nvSpPr>
          <p:cNvPr id="5" name="TextBox 4"/>
          <p:cNvSpPr txBox="1"/>
          <p:nvPr/>
        </p:nvSpPr>
        <p:spPr>
          <a:xfrm>
            <a:off x="502920" y="1389888"/>
            <a:ext cx="11247120" cy="5120640"/>
          </a:xfrm>
          <a:prstGeom prst="rect">
            <a:avLst/>
          </a:prstGeom>
          <a:noFill/>
        </p:spPr>
        <p:txBody>
          <a:bodyPr wrap="square">
            <a:spAutoFit/>
          </a:bodyPr>
          <a:lstStyle/>
          <a:p>
            <a:pPr>
              <a:lnSpc>
                <a:spcPct val="125000"/>
              </a:lnSpc>
              <a:spcAft>
                <a:spcPts val="800"/>
              </a:spcAft>
              <a:defRPr sz="1700">
                <a:solidFill>
                  <a:srgbClr val="0F172A"/>
                </a:solidFill>
                <a:latin typeface="Aptos"/>
              </a:defRPr>
            </a:pPr>
            <a:r>
              <a:t>•  Key misconceptions to watch for:</a:t>
            </a:r>
          </a:p>
          <a:p>
            <a:pPr>
              <a:lnSpc>
                <a:spcPct val="125000"/>
              </a:lnSpc>
              <a:spcAft>
                <a:spcPts val="800"/>
              </a:spcAft>
              <a:defRPr sz="1700">
                <a:solidFill>
                  <a:srgbClr val="0F172A"/>
                </a:solidFill>
                <a:latin typeface="Aptos"/>
              </a:defRPr>
            </a:pPr>
            <a:r>
              <a:t>•  Common words or simple sequences make strong passwords.</a:t>
            </a:r>
          </a:p>
          <a:p>
            <a:pPr>
              <a:lnSpc>
                <a:spcPct val="125000"/>
              </a:lnSpc>
              <a:spcAft>
                <a:spcPts val="800"/>
              </a:spcAft>
              <a:defRPr sz="1700">
                <a:solidFill>
                  <a:srgbClr val="0F172A"/>
                </a:solidFill>
                <a:latin typeface="Aptos"/>
              </a:defRPr>
            </a:pPr>
            <a:r>
              <a:t>•  MFA is optional and not very important.</a:t>
            </a:r>
          </a:p>
          <a:p>
            <a:pPr>
              <a:lnSpc>
                <a:spcPct val="125000"/>
              </a:lnSpc>
              <a:spcAft>
                <a:spcPts val="800"/>
              </a:spcAft>
              <a:defRPr sz="1700">
                <a:solidFill>
                  <a:srgbClr val="0F172A"/>
                </a:solidFill>
                <a:latin typeface="Aptos"/>
              </a:defRPr>
            </a:pPr>
            <a:r>
              <a:t>•  Using the same password for all accounts is safe if it's strong.</a:t>
            </a:r>
          </a:p>
          <a:p>
            <a:pPr>
              <a:lnSpc>
                <a:spcPct val="125000"/>
              </a:lnSpc>
              <a:spcAft>
                <a:spcPts val="800"/>
              </a:spcAft>
              <a:defRPr sz="1700">
                <a:solidFill>
                  <a:srgbClr val="0F172A"/>
                </a:solidFill>
                <a:latin typeface="Aptos"/>
              </a:defRPr>
            </a:pPr>
            <a:r>
              <a:t>•  Differentiation ideas:</a:t>
            </a:r>
          </a:p>
          <a:p>
            <a:pPr>
              <a:lnSpc>
                <a:spcPct val="125000"/>
              </a:lnSpc>
              <a:spcAft>
                <a:spcPts val="800"/>
              </a:spcAft>
              <a:defRPr sz="1700">
                <a:solidFill>
                  <a:srgbClr val="0F172A"/>
                </a:solidFill>
                <a:latin typeface="Aptos"/>
              </a:defRPr>
            </a:pPr>
            <a:r>
              <a:t>•  Provide password strength checkers for extra support.</a:t>
            </a:r>
          </a:p>
          <a:p>
            <a:pPr>
              <a:lnSpc>
                <a:spcPct val="125000"/>
              </a:lnSpc>
              <a:spcAft>
                <a:spcPts val="800"/>
              </a:spcAft>
              <a:defRPr sz="1700">
                <a:solidFill>
                  <a:srgbClr val="0F172A"/>
                </a:solidFill>
                <a:latin typeface="Aptos"/>
              </a:defRPr>
            </a:pPr>
            <a:r>
              <a:t>•  Use visuals to show different MFA methods.</a:t>
            </a:r>
          </a:p>
          <a:p>
            <a:pPr>
              <a:lnSpc>
                <a:spcPct val="125000"/>
              </a:lnSpc>
              <a:spcAft>
                <a:spcPts val="800"/>
              </a:spcAft>
              <a:defRPr sz="1700">
                <a:solidFill>
                  <a:srgbClr val="0F172A"/>
                </a:solidFill>
                <a:latin typeface="Aptos"/>
              </a:defRPr>
            </a:pPr>
            <a:r>
              <a:t>•  Extension ideas: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