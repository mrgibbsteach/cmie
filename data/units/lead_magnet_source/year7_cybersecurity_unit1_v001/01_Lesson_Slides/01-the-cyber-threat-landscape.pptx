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starting a new phase focused on exploring the problem of cyber threats. Use this slide to set the tone for investigation and curiosity. Encourage students to think about why protecting themselves online matters. Transition smoothly by explaining that before we learn how to protect ourselves, we need to understand what kinds of threats exist.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This hook is designed to spark immediate engagement by putting students in a realistic, relatable situation. Ask them to consider what they'd do if they received such a suspicious message. Watch for students who might think it’s okay to share passwords or who may not recognise the danger. Prompt with questions like, 'Why might someone ask for your password like this?' or 'What clues could tell you this message isn't safe?' Use this to open a discussion about recognising suspicious requests.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you play the video, ask students to listen carefully for one main idea about cyber threats and how it relates to protecting themselves. After the video, pause and get a few students to share what stood out. This will help connect the video content directly to today’s lesson. Watch out for students who might confuse different types of threats or miss the importance of awareness.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key concepts we'll cover today. Briefly explain that we’ll look at common cyber threats and what makes them dangerous. Use this moment to set clear expectations for learning and to link back to the essential question about recognising threats. This helps students understand the purpose behind the information they’re about to receive.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phishing clearly by comparing it to someone pretending to be a friend to trick you. Use the example of a fake bank email to make it concrete. Emphasise that phishing can look very convincing, so students shouldn’t rely on spotting spelling mistakes alone. Highlight the misconception that all phishing emails are easy to spot. Ask, 'What might make a phishing email seem real?' to get them thinking about common tactics scammers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malware is like a hidden threat inside software that can cause serious harm without the user knowing. Use the example of a free game downloading a virus to show how tempting offers can be dangerous. Stress that even trusted sites can be risky if compromised, which counters the idea that malware only comes from obviously dodgy places. Check for understanding by asking, 'Why might malware be hard to notice at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the WannaCry attack to show the real-world impact of malware. Help students grasp how quickly malware can spread and why it’s a serious problem, disrupting hospitals and services they rely on. Emphasise the importance of updates as a defence, linking this back to practical safety advice. Invite students to imagine how it would feel if their school or hospital was affected. This makes the threat more tangible.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Transition into the application phase by explaining that now students will put their knowledge into practice. Remind them that creating a poster is a way to teach others, so clarity and accuracy are key. Encourage creativity but also focus on clear communication. This slide sets the stage for active learning and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poster activity by clearly explaining the task and expectations. Stress the importance of choosing one threat and explaining it in simple terms with practical safety tips. Suggest they think about what would help their friends understand and stay safe. Circulate to support groups needing help with writing or ideas, and to challenge those ready for extension. Look out for posters that might oversimplify or miss key safety advice and guide students to refine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it’s time to review and consolidate learning. Use this slide to bring students’ attention back together and prepare them for reflection. Emphasise that reflecting helps deepen understanding and prepares them to apply what they've learned beyond the classroom.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reflective discussion with these questions. Encourage honest sharing about which threats they see most often and what changes they plan to make online. Probe deeper by asking why they think some threats are more common and how awareness can help. This helps personalise the learning and checks genuine understanding. Watch for students who might downplay risks or feel invincible online and gently challenge those views.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this slide for your own reference during and after the lesson. Keep an eye out for students believing phishing always looks obvious or that malware only comes from suspicious sites. Address these misconceptions explicitly. Support learners who struggle with writing by offering sentence starters, and use images or videos to clarify complex ideas. For those ready to go further, encourage researching a recent cyber attack or creating a quiz. This keeps everyone engaged at their level.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01</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The Cyber Threat Landscape</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01</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Name three common cyber threats.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how each threat risks your online safety.</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Spot and fix common cyber threat myths.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What are the main types of cyber threats and why recognize them?</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get a message from an unknown sender asking for your password to 'verify your account'. What would you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Phishing Attacks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Phishing tricks you into sharing personal info by pretending to be someone you trust</a:t>
            </a:r>
          </a:p>
          <a:p>
            <a:pPr>
              <a:lnSpc>
                <a:spcPct val="125000"/>
              </a:lnSpc>
              <a:spcAft>
                <a:spcPts val="1200"/>
              </a:spcAft>
              <a:defRPr sz="2000">
                <a:solidFill>
                  <a:srgbClr val="0F172A"/>
                </a:solidFill>
                <a:latin typeface="Aptos"/>
              </a:defRPr>
            </a:pPr>
            <a:r>
              <a:t>•  For example, an email from 'your bank' asks you to click a link and enter your password</a:t>
            </a:r>
          </a:p>
          <a:p>
            <a:pPr>
              <a:lnSpc>
                <a:spcPct val="125000"/>
              </a:lnSpc>
              <a:spcAft>
                <a:spcPts val="1200"/>
              </a:spcAft>
              <a:defRPr sz="2000">
                <a:solidFill>
                  <a:srgbClr val="0F172A"/>
                </a:solidFill>
                <a:latin typeface="Aptos"/>
              </a:defRPr>
            </a:pPr>
            <a:r>
              <a:t>•  Many think phishing emails always have mistakes or odd addresses, but some look very real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Malware</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Malware is harmful software that can damage your device or steal data without your knowledge</a:t>
            </a:r>
          </a:p>
          <a:p>
            <a:pPr>
              <a:lnSpc>
                <a:spcPct val="125000"/>
              </a:lnSpc>
              <a:spcAft>
                <a:spcPts val="1200"/>
              </a:spcAft>
              <a:defRPr sz="2000">
                <a:solidFill>
                  <a:srgbClr val="0F172A"/>
                </a:solidFill>
                <a:latin typeface="Aptos"/>
              </a:defRPr>
            </a:pPr>
            <a:r>
              <a:t>•  For example, downloading a free game might secretly install a virus</a:t>
            </a:r>
          </a:p>
          <a:p>
            <a:pPr>
              <a:lnSpc>
                <a:spcPct val="125000"/>
              </a:lnSpc>
              <a:spcAft>
                <a:spcPts val="1200"/>
              </a:spcAft>
              <a:defRPr sz="2000">
                <a:solidFill>
                  <a:srgbClr val="0F172A"/>
                </a:solidFill>
                <a:latin typeface="Aptos"/>
              </a:defRPr>
            </a:pPr>
            <a:r>
              <a:t>•  Even trusted websites can spread malware if they are hacked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2017 WannaCry Attack</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WannaCry locked computers worldwide and demanded ransom payments.</a:t>
            </a:r>
          </a:p>
          <a:p>
            <a:pPr>
              <a:lnSpc>
                <a:spcPct val="125000"/>
              </a:lnSpc>
              <a:spcAft>
                <a:spcPts val="1200"/>
              </a:spcAft>
              <a:defRPr sz="2000">
                <a:solidFill>
                  <a:srgbClr val="0F172A"/>
                </a:solidFill>
                <a:latin typeface="Aptos"/>
              </a:defRPr>
            </a:pPr>
            <a:r>
              <a:t>→  Malware can affect millions quickly.</a:t>
            </a:r>
          </a:p>
          <a:p>
            <a:pPr>
              <a:lnSpc>
                <a:spcPct val="125000"/>
              </a:lnSpc>
              <a:spcAft>
                <a:spcPts val="1200"/>
              </a:spcAft>
              <a:defRPr sz="2000">
                <a:solidFill>
                  <a:srgbClr val="0F172A"/>
                </a:solidFill>
                <a:latin typeface="Aptos"/>
              </a:defRPr>
            </a:pPr>
            <a:r>
              <a:t>→  It can disrupt vital services like hospitals.</a:t>
            </a:r>
          </a:p>
          <a:p>
            <a:pPr>
              <a:lnSpc>
                <a:spcPct val="125000"/>
              </a:lnSpc>
              <a:spcAft>
                <a:spcPts val="1200"/>
              </a:spcAft>
              <a:defRPr sz="2000">
                <a:solidFill>
                  <a:srgbClr val="0F172A"/>
                </a:solidFill>
                <a:latin typeface="Aptos"/>
              </a:defRPr>
            </a:pPr>
            <a:r>
              <a:t>→  Keeping devices updated helps prevent attacks.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Design a Cyber Threat Poster</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 groups, pick one cyber threat</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Create a poster explaining the threat, giving two safety tips, and showing examples</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Use clear words and visuals to teach your classmates</a:t>
            </a:r>
          </a:p>
        </p:txBody>
      </p:sp>
      <p:sp>
        <p:nvSpPr>
          <p:cNvPr id="11" name="Rounded Rectangle 10"/>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3" name="TextBox 12"/>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poster with a threat summary, two safety tips, and visuals that explain the threat clearly.</a:t>
            </a:r>
          </a:p>
        </p:txBody>
      </p:sp>
      <p:sp>
        <p:nvSpPr>
          <p:cNvPr id="14" name="TextBox 13"/>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Describes the chosen cyber threat clearly.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Which cyber threat is most common among your friends?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will you do differently online after this lesson?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Phishing emails always have poor grammar or suspicious addresses.</a:t>
            </a:r>
          </a:p>
          <a:p>
            <a:pPr>
              <a:lnSpc>
                <a:spcPct val="125000"/>
              </a:lnSpc>
              <a:spcAft>
                <a:spcPts val="800"/>
              </a:spcAft>
              <a:defRPr sz="1700">
                <a:solidFill>
                  <a:srgbClr val="0F172A"/>
                </a:solidFill>
                <a:latin typeface="Aptos"/>
              </a:defRPr>
            </a:pPr>
            <a:r>
              <a:t>•  Malware only comes from shady websites.</a:t>
            </a:r>
          </a:p>
          <a:p>
            <a:pPr>
              <a:lnSpc>
                <a:spcPct val="125000"/>
              </a:lnSpc>
              <a:spcAft>
                <a:spcPts val="800"/>
              </a:spcAft>
              <a:defRPr sz="1700">
                <a:solidFill>
                  <a:srgbClr val="0F172A"/>
                </a:solidFill>
                <a:latin typeface="Aptos"/>
              </a:defRPr>
            </a:pPr>
            <a:r>
              <a:t>•  Cyber threats only target adults or businesses.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Offer sentence starters for the poster task to support writing.</a:t>
            </a:r>
          </a:p>
          <a:p>
            <a:pPr>
              <a:lnSpc>
                <a:spcPct val="125000"/>
              </a:lnSpc>
              <a:spcAft>
                <a:spcPts val="800"/>
              </a:spcAft>
              <a:defRPr sz="1700">
                <a:solidFill>
                  <a:srgbClr val="0F172A"/>
                </a:solidFill>
                <a:latin typeface="Aptos"/>
              </a:defRPr>
            </a:pPr>
            <a:r>
              <a:t>•  Use images and videos to clarify ideas for all learners.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